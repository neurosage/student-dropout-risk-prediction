
<file path=[Content_Types].xml><?xml version="1.0" encoding="utf-8"?>
<Types xmlns="http://schemas.openxmlformats.org/package/2006/content-types">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13"/>
    <p:restoredTop sz="92663"/>
  </p:normalViewPr>
  <p:slideViewPr>
    <p:cSldViewPr snapToGrid="0" snapToObjects="1">
      <p:cViewPr varScale="1">
        <p:scale>
          <a:sx n="95" d="100"/>
          <a:sy n="95" d="100"/>
        </p:scale>
        <p:origin x="1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ROC-AUC (mean)</c:v>
                </c:pt>
              </c:strCache>
            </c:strRef>
          </c:tx>
          <c:spPr>
            <a:solidFill>
              <a:srgbClr val="C0504D"/>
            </a:solidFill>
            <a:effectLst/>
          </c:spPr>
          <c:invertIfNegative val="0"/>
          <c:cat>
            <c:strRef>
              <c:f>Sheet1!$A$2:$A$5</c:f>
              <c:strCache>
                <c:ptCount val="4"/>
                <c:pt idx="0">
                  <c:v>GradientBoosting</c:v>
                </c:pt>
                <c:pt idx="1">
                  <c:v>LogisticRegression</c:v>
                </c:pt>
                <c:pt idx="2">
                  <c:v>RandomForest</c:v>
                </c:pt>
                <c:pt idx="3">
                  <c:v>SVM_RBF</c:v>
                </c:pt>
              </c:strCache>
            </c:strRef>
          </c:cat>
          <c:val>
            <c:numRef>
              <c:f>Sheet1!$B$2:$B$5</c:f>
              <c:numCache>
                <c:formatCode>General</c:formatCode>
                <c:ptCount val="4"/>
                <c:pt idx="0">
                  <c:v>0.91900000000000004</c:v>
                </c:pt>
                <c:pt idx="1">
                  <c:v>0.91400000000000003</c:v>
                </c:pt>
                <c:pt idx="2">
                  <c:v>0.91400000000000003</c:v>
                </c:pt>
                <c:pt idx="3">
                  <c:v>0.90800000000000003</c:v>
                </c:pt>
              </c:numCache>
            </c:numRef>
          </c:val>
          <c:extLst>
            <c:ext xmlns:c16="http://schemas.microsoft.com/office/drawing/2014/chart" uri="{C3380CC4-5D6E-409C-BE32-E72D297353CC}">
              <c16:uniqueId val="{00000000-5977-B244-8D1E-A5092543963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0.94"/>
          <c:min val="0.88"/>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ROC-AUC</c:v>
                </c:pt>
              </c:strCache>
            </c:strRef>
          </c:tx>
          <c:spPr>
            <a:solidFill>
              <a:srgbClr val="C0504D"/>
            </a:solidFill>
            <a:effectLst/>
          </c:spPr>
          <c:invertIfNegative val="0"/>
          <c:cat>
            <c:strRef>
              <c:f>Sheet1!$A$2:$A$3</c:f>
              <c:strCache>
                <c:ptCount val="2"/>
                <c:pt idx="0">
                  <c:v>Tuned LogisticRegression</c:v>
                </c:pt>
                <c:pt idx="1">
                  <c:v>Tuned RandomForest</c:v>
                </c:pt>
              </c:strCache>
            </c:strRef>
          </c:cat>
          <c:val>
            <c:numRef>
              <c:f>Sheet1!$B$2:$B$3</c:f>
              <c:numCache>
                <c:formatCode>General</c:formatCode>
                <c:ptCount val="2"/>
                <c:pt idx="0">
                  <c:v>0.92800000000000005</c:v>
                </c:pt>
                <c:pt idx="1">
                  <c:v>0.93</c:v>
                </c:pt>
              </c:numCache>
            </c:numRef>
          </c:val>
          <c:extLst>
            <c:ext xmlns:c16="http://schemas.microsoft.com/office/drawing/2014/chart" uri="{C3380CC4-5D6E-409C-BE32-E72D297353CC}">
              <c16:uniqueId val="{00000000-8495-BD46-868A-C1BE842F9F7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0.95"/>
          <c:min val="0.9"/>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DP diff</c:v>
                </c:pt>
              </c:strCache>
            </c:strRef>
          </c:tx>
          <c:spPr>
            <a:solidFill>
              <a:srgbClr val="C0504D"/>
            </a:solidFill>
            <a:effectLst/>
          </c:spPr>
          <c:invertIfNegative val="0"/>
          <c:cat>
            <c:strRef>
              <c:f>Sheet1!$A$2:$A$4</c:f>
              <c:strCache>
                <c:ptCount val="3"/>
                <c:pt idx="0">
                  <c:v>Baseline</c:v>
                </c:pt>
                <c:pt idx="1">
                  <c:v>Group thresholds</c:v>
                </c:pt>
                <c:pt idx="2">
                  <c:v>Reweighting</c:v>
                </c:pt>
              </c:strCache>
            </c:strRef>
          </c:cat>
          <c:val>
            <c:numRef>
              <c:f>Sheet1!$B$2:$B$4</c:f>
              <c:numCache>
                <c:formatCode>General</c:formatCode>
                <c:ptCount val="3"/>
                <c:pt idx="0">
                  <c:v>0.19</c:v>
                </c:pt>
                <c:pt idx="1">
                  <c:v>0.16500000000000001</c:v>
                </c:pt>
                <c:pt idx="2">
                  <c:v>0.14799999999999999</c:v>
                </c:pt>
              </c:numCache>
            </c:numRef>
          </c:val>
          <c:extLst>
            <c:ext xmlns:c16="http://schemas.microsoft.com/office/drawing/2014/chart" uri="{C3380CC4-5D6E-409C-BE32-E72D297353CC}">
              <c16:uniqueId val="{00000000-2759-F94E-87EC-657B11A4D4D6}"/>
            </c:ext>
          </c:extLst>
        </c:ser>
        <c:ser>
          <c:idx val="1"/>
          <c:order val="1"/>
          <c:tx>
            <c:strRef>
              <c:f>Sheet1!$C$1</c:f>
              <c:strCache>
                <c:ptCount val="1"/>
                <c:pt idx="0">
                  <c:v>DI ratio</c:v>
                </c:pt>
              </c:strCache>
            </c:strRef>
          </c:tx>
          <c:spPr>
            <a:solidFill>
              <a:srgbClr val="4F81BD"/>
            </a:solidFill>
            <a:effectLst/>
          </c:spPr>
          <c:invertIfNegative val="0"/>
          <c:cat>
            <c:strRef>
              <c:f>Sheet1!$A$2:$A$4</c:f>
              <c:strCache>
                <c:ptCount val="3"/>
                <c:pt idx="0">
                  <c:v>Baseline</c:v>
                </c:pt>
                <c:pt idx="1">
                  <c:v>Group thresholds</c:v>
                </c:pt>
                <c:pt idx="2">
                  <c:v>Reweighting</c:v>
                </c:pt>
              </c:strCache>
            </c:strRef>
          </c:cat>
          <c:val>
            <c:numRef>
              <c:f>Sheet1!$C$2:$C$4</c:f>
              <c:numCache>
                <c:formatCode>General</c:formatCode>
                <c:ptCount val="3"/>
                <c:pt idx="0">
                  <c:v>0.504</c:v>
                </c:pt>
                <c:pt idx="1">
                  <c:v>0.56000000000000005</c:v>
                </c:pt>
                <c:pt idx="2">
                  <c:v>0.58399999999999996</c:v>
                </c:pt>
              </c:numCache>
            </c:numRef>
          </c:val>
          <c:extLst>
            <c:ext xmlns:c16="http://schemas.microsoft.com/office/drawing/2014/chart" uri="{C3380CC4-5D6E-409C-BE32-E72D297353CC}">
              <c16:uniqueId val="{00000001-2759-F94E-87EC-657B11A4D4D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509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In this appendix, I present the complete technical methodology underlying the project. The intent of this deck is to make the modeling process transparent by explicitly documenting the key engineering and analytical decisions that support the results shown in my capstone project, including assumptions made, safeguards applied, and trade-offs considered across the pipeline.</a:t>
            </a:r>
          </a:p>
          <a:p>
            <a:br>
              <a:rPr lang="en-PH" dirty="0"/>
            </a:br>
            <a:endParaRPr lang="en-PH" dirty="0"/>
          </a:p>
          <a:p>
            <a:r>
              <a:rPr lang="en-PH" dirty="0"/>
              <a:t>I structure the discussion to follow a realistic, end-to-end machine learning workflow. Each stage builds on the outputs of the previous one, providing clear traceability from problem framing and data ingestion through preprocessing, model development, evaluation, and ethical analysis. This organization reflects how such a system would typically be developed, validated, and reviewed in a real institutional environment.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 frame the problem from a decision-support perspective rather than a purely predictive one. Student dropout is treated as a process rather than a single event, where early signals—available at enrollment or early semesters—can be used to guide proactive interventions. The objective is not simply to predict outcomes, but to support earlier and more targeted allocation of institutional resources.</a:t>
            </a:r>
          </a:p>
          <a:p>
            <a:br>
              <a:rPr lang="en-PH" dirty="0"/>
            </a:br>
            <a:endParaRPr lang="en-PH" dirty="0"/>
          </a:p>
          <a:p>
            <a:r>
              <a:rPr lang="en-PH" dirty="0"/>
              <a:t>Operationally, I design the system to output risk scores rather than hard classifications. This allows institutional policy to determine how predictions are acted upon, particularly given capacity constraints. In this project, I assume a top-10% intervention capacity and explicitly position the model as human-in-the-loop decision support, not an automated decision-maker.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Technically, I formalize the problem as a supervised binary classification task, where dropout is contrasted against non-dropout outcomes for the purpose of intervention. I prioritize probability estimation and ranking quality over direct class assignment because institutional actions depend on prioritization rather than absolute labels.</a:t>
            </a:r>
          </a:p>
          <a:p>
            <a:endParaRPr lang="en-PH" dirty="0"/>
          </a:p>
          <a:p>
            <a:r>
              <a:rPr lang="en-PH" dirty="0"/>
              <a:t>For evaluation, I select ROC-AUC as the primary metric due to its robustness under class imbalance and its alignment with ranking-based decision-making. I complement this with precision, recall, and F1-score, evaluated specifically within the operational threshold. This ensures that model evaluation reflects how predictions would actually be used in practice.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 use the “Predict Students’ Dropout and Academic Success” dataset from the UCI Machine Learning Repository. I selected this dataset because it contains administratively realistic features, sufficient sample size, and prior academic usage, which supports both relevance and external validity.</a:t>
            </a:r>
          </a:p>
          <a:p>
            <a:endParaRPr lang="en-PH" dirty="0"/>
          </a:p>
          <a:p>
            <a:r>
              <a:rPr lang="en-PH" dirty="0"/>
              <a:t>From an implementation standpoint, I ensure reproducibility by programmatically retrieving the dataset, storing a local version for traceability, and applying stratified train–test splits. Although the dataset metadata reports no missing values, I intentionally retain imputation steps in the pipeline to make the system robust to future data variations.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Before modeling, I examine the dataset structurally to understand feature semantics, encoding schemes, and potential sources of bias. The features span academic pathways, demographic attributes, socio-economic indicators, financial status, and early academic performance, each with different modeling and ethical implications.</a:t>
            </a:r>
          </a:p>
          <a:p>
            <a:endParaRPr lang="en-PH" dirty="0"/>
          </a:p>
          <a:p>
            <a:r>
              <a:rPr lang="en-PH" dirty="0"/>
              <a:t>I also document the target variable transformation, converting the original multi-class outcome into a binary target aligned with intervention policy. Maintaining a data dictionary excerpt ensures transparency, supports preprocessing correctness, and provides a foundation for later fairness auditing and explainability analysis.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 design the preprocessing workflow using scikit-learn Pipelines to enforce consistency and prevent data leakage. All transformations—imputation, encoding, and scaling—are fit only on the training data and applied consistently across cross-validation folds and the held-out test set.</a:t>
            </a:r>
          </a:p>
          <a:p>
            <a:endParaRPr lang="en-PH" dirty="0"/>
          </a:p>
          <a:p>
            <a:r>
              <a:rPr lang="en-PH" dirty="0"/>
              <a:t>I also incorporate safeguards such as schema checks, datatype validation, and fixed random seeds. Class imbalance is handled through metric selection rather than resampling. Key artifacts, including metrics tables and trained models, are saved to support reproducibility and downstream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 conduct exploratory data analysis as a diagnostic step to inform modeling decisions rather than as a descriptive exercise. First, I confirm outcome imbalance, which directly motivates the use of ROC-AUC and stratified evaluation strategies.</a:t>
            </a:r>
          </a:p>
          <a:p>
            <a:endParaRPr lang="en-PH" dirty="0"/>
          </a:p>
          <a:p>
            <a:r>
              <a:rPr lang="en-PH" dirty="0"/>
              <a:t>Second, I examine feature distributions and correlations to identify scale heterogeneity, skewness, and collinearity. These findings inform my decisions around standardization and motivate dimensionality reduction analysis. All EDA outputs are documented in the notebook to ensure transparency and rubric alignment.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My feature engineering approach is intentionally conservative. I apply one-hot encoding to categorical variables with safeguards for unseen categories and standardize numeric features to support linear and kernel-based models. I also explicitly engineer the target variable to align with the intervention framing rather than the original academic taxonomy.</a:t>
            </a:r>
          </a:p>
          <a:p>
            <a:endParaRPr lang="en-PH" dirty="0"/>
          </a:p>
          <a:p>
            <a:r>
              <a:rPr lang="en-PH" dirty="0"/>
              <a:t>For feature selection, I use L1-regularized logistic regression as an embedded method to assess sparsity and signal concentration. I then apply PCA analytically to understand variance structure and effective dimensionality. The final production pipeline retains the full feature space to preserve interpretability and fidelity.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 evaluate multiple model families to balance predictive performance, interpretability, and robustness. These include linear models, tree-based ensembles, kernel methods, and gradient boosting. All models are evaluated using 5-fold stratified cross-validation to ensure stability under class imbalance.</a:t>
            </a:r>
          </a:p>
          <a:p>
            <a:endParaRPr lang="en-PH" dirty="0"/>
          </a:p>
          <a:p>
            <a:r>
              <a:rPr lang="en-PH" dirty="0"/>
              <a:t>Rather than selecting a model based solely on peak performance, I use this phase to identify competitive candidates and understand trade-offs across metrics. This comparative analysis informs which models are suitable for deeper tuning and risk assessment.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 perform hyperparameter tuning using </a:t>
            </a:r>
            <a:r>
              <a:rPr lang="en-PH" dirty="0" err="1"/>
              <a:t>GridSearchCV</a:t>
            </a:r>
            <a:r>
              <a:rPr lang="en-PH" dirty="0"/>
              <a:t> with ROC-AUC as the optimization objective. Logistic regression serves as a transparent baseline, while random forest captures non-linear interactions. Both are tuned under identical cross-validation protocols to ensure fair comparison.</a:t>
            </a:r>
            <a:br>
              <a:rPr lang="en-PH" dirty="0"/>
            </a:br>
            <a:endParaRPr lang="en-PH" dirty="0"/>
          </a:p>
          <a:p>
            <a:r>
              <a:rPr lang="en-PH" dirty="0"/>
              <a:t>Final selection is based on held-out test performance rather than cross-validation results alone. I select the random forest model due to slightly stronger recall within the intervention threshold and stable overall performance. All trained models and metrics are saved to support explainability and fairness analysis in Step 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 address explainability at multiple levels. Globally, I compare sparse logistic coefficients with random forest behavior to identify consistent drivers of risk. Locally, I use SHAP where feasible to contextualize individual predictions for advisors.</a:t>
            </a:r>
          </a:p>
          <a:p>
            <a:endParaRPr lang="en-PH" dirty="0"/>
          </a:p>
          <a:p>
            <a:r>
              <a:rPr lang="en-PH" dirty="0"/>
              <a:t>I also explicitly document model limitations, including dataset shift across cohorts, potential proxy variables for socio-economic disadvantage, and feedback loops introduced by interventions. These risks are framed as governance concerns requiring monitoring rather than purely technical shortcomings.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 conduct a fairness audit on the held-out test set using gender as a sensitive attribute. I evaluate multiple fairness metrics, including selection rate differences, disparate impact ratios, and true positive rate gaps, all computed at the operational threshold.</a:t>
            </a:r>
            <a:br>
              <a:rPr lang="en-PH" dirty="0"/>
            </a:br>
            <a:endParaRPr lang="en-PH" dirty="0"/>
          </a:p>
          <a:p>
            <a:r>
              <a:rPr lang="en-PH" dirty="0"/>
              <a:t>I then test mitigation strategies, including post-processing threshold adjustments and in-processing reweighting. Both baseline and mitigated results are retained to make performance–fairness trade-offs explicit. My conclusion emphasizes informed policy choice, documentation, and continued human oversight rather than a single “optimal” fairness configuration.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grad_commencement.jpg"/>
          <p:cNvPicPr>
            <a:picLocks noChangeAspect="1"/>
          </p:cNvPicPr>
          <p:nvPr/>
        </p:nvPicPr>
        <p:blipFill>
          <a:blip r:embed="rId3"/>
          <a:srcRect t="7653" b="7653"/>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5000"/>
            </a:srgbClr>
          </a:solidFill>
          <a:ln w="12700">
            <a:solidFill>
              <a:srgbClr val="000000">
                <a:alpha val="0"/>
              </a:srgbClr>
            </a:solidFill>
            <a:prstDash val="solid"/>
          </a:ln>
        </p:spPr>
        <p:txBody>
          <a:bodyPr/>
          <a:lstStyle/>
          <a:p>
            <a:endParaRPr lang="en-US"/>
          </a:p>
        </p:txBody>
      </p:sp>
      <p:sp>
        <p:nvSpPr>
          <p:cNvPr id="4" name="Text 1"/>
          <p:cNvSpPr/>
          <p:nvPr/>
        </p:nvSpPr>
        <p:spPr>
          <a:xfrm>
            <a:off x="777240" y="1920240"/>
            <a:ext cx="10607040" cy="73152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Predicting Student Dropout Risk</a:t>
            </a:r>
            <a:endParaRPr lang="en-US" sz="4400" dirty="0"/>
          </a:p>
        </p:txBody>
      </p:sp>
      <p:sp>
        <p:nvSpPr>
          <p:cNvPr id="5" name="Text 2"/>
          <p:cNvSpPr/>
          <p:nvPr/>
        </p:nvSpPr>
        <p:spPr>
          <a:xfrm>
            <a:off x="777240" y="2743200"/>
            <a:ext cx="10607040" cy="54864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Using Supervised Machine Learning</a:t>
            </a:r>
            <a:endParaRPr lang="en-US" sz="2800" dirty="0"/>
          </a:p>
        </p:txBody>
      </p:sp>
      <p:sp>
        <p:nvSpPr>
          <p:cNvPr id="6" name="Shape 3"/>
          <p:cNvSpPr/>
          <p:nvPr/>
        </p:nvSpPr>
        <p:spPr>
          <a:xfrm>
            <a:off x="777240" y="3703320"/>
            <a:ext cx="4480560" cy="502920"/>
          </a:xfrm>
          <a:prstGeom prst="roundRect">
            <a:avLst/>
          </a:prstGeom>
          <a:solidFill>
            <a:srgbClr val="F28E2B"/>
          </a:solidFill>
          <a:ln w="12700">
            <a:solidFill>
              <a:srgbClr val="F28E2B"/>
            </a:solidFill>
            <a:prstDash val="solid"/>
          </a:ln>
        </p:spPr>
        <p:txBody>
          <a:bodyPr/>
          <a:lstStyle/>
          <a:p>
            <a:endParaRPr lang="en-US"/>
          </a:p>
        </p:txBody>
      </p:sp>
      <p:sp>
        <p:nvSpPr>
          <p:cNvPr id="7" name="Text 4"/>
          <p:cNvSpPr/>
          <p:nvPr/>
        </p:nvSpPr>
        <p:spPr>
          <a:xfrm>
            <a:off x="777240" y="3767328"/>
            <a:ext cx="448056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Appendix A — Technical Deck</a:t>
            </a:r>
            <a:endParaRPr lang="en-US" sz="1600" dirty="0"/>
          </a:p>
        </p:txBody>
      </p:sp>
      <p:sp>
        <p:nvSpPr>
          <p:cNvPr id="8" name="Text 5"/>
          <p:cNvSpPr/>
          <p:nvPr/>
        </p:nvSpPr>
        <p:spPr>
          <a:xfrm>
            <a:off x="777240" y="5989320"/>
            <a:ext cx="10607040" cy="548640"/>
          </a:xfrm>
          <a:prstGeom prst="rect">
            <a:avLst/>
          </a:prstGeom>
          <a:noFill/>
          <a:ln/>
        </p:spPr>
        <p:txBody>
          <a:bodyPr wrap="square" rtlCol="0" anchor="ctr"/>
          <a:lstStyle/>
          <a:p>
            <a:pPr marL="0" indent="0">
              <a:buNone/>
            </a:pPr>
            <a:r>
              <a:rPr lang="en-US" sz="1400" dirty="0">
                <a:solidFill>
                  <a:srgbClr val="E5E7EB"/>
                </a:solidFill>
                <a:latin typeface="Calibri" pitchFamily="34" charset="0"/>
                <a:ea typeface="Calibri" pitchFamily="34" charset="-122"/>
                <a:cs typeface="Calibri" pitchFamily="34" charset="-120"/>
              </a:rPr>
              <a:t>AI &amp; ML Capstone Project • Education Domain</a:t>
            </a:r>
            <a:endParaRPr lang="en-US" sz="1400" dirty="0"/>
          </a:p>
          <a:p>
            <a:pPr marL="0" indent="0">
              <a:buNone/>
            </a:pPr>
            <a:r>
              <a:rPr lang="en-US" sz="1400" dirty="0">
                <a:solidFill>
                  <a:srgbClr val="E5E7EB"/>
                </a:solidFill>
                <a:latin typeface="Calibri" pitchFamily="34" charset="0"/>
                <a:ea typeface="Calibri" pitchFamily="34" charset="-122"/>
                <a:cs typeface="Calibri" pitchFamily="34" charset="-120"/>
              </a:rPr>
              <a:t>Conrado Banjo B. Mamaradlo, Jr. • January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1</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Problem Understanding &amp; Framing</a:t>
            </a:r>
            <a:endParaRPr lang="en-US" sz="2000" dirty="0"/>
          </a:p>
        </p:txBody>
      </p:sp>
      <p:sp>
        <p:nvSpPr>
          <p:cNvPr id="6" name="Shape 4"/>
          <p:cNvSpPr/>
          <p:nvPr/>
        </p:nvSpPr>
        <p:spPr>
          <a:xfrm>
            <a:off x="640080" y="960120"/>
            <a:ext cx="5440680" cy="2331720"/>
          </a:xfrm>
          <a:prstGeom prst="roundRect">
            <a:avLst/>
          </a:prstGeom>
          <a:solidFill>
            <a:srgbClr val="FFFFFF"/>
          </a:solidFill>
          <a:ln w="12700">
            <a:solidFill>
              <a:schemeClr val="accent1"/>
            </a:solidFill>
            <a:prstDash val="solid"/>
          </a:ln>
          <a:effectLst>
            <a:outerShdw blurRad="25400" dist="19050" dir="2700000" algn="bl" rotWithShape="0">
              <a:srgbClr val="000000">
                <a:alpha val="14000"/>
              </a:srgbClr>
            </a:outerShdw>
          </a:effectLst>
        </p:spPr>
        <p:txBody>
          <a:bodyPr/>
          <a:lstStyle/>
          <a:p>
            <a:endParaRPr lang="en-US"/>
          </a:p>
        </p:txBody>
      </p:sp>
      <p:sp>
        <p:nvSpPr>
          <p:cNvPr id="7" name="Shape 5"/>
          <p:cNvSpPr/>
          <p:nvPr/>
        </p:nvSpPr>
        <p:spPr>
          <a:xfrm>
            <a:off x="640080" y="960120"/>
            <a:ext cx="73152" cy="2331720"/>
          </a:xfrm>
          <a:prstGeom prst="rect">
            <a:avLst/>
          </a:prstGeom>
          <a:solidFill>
            <a:srgbClr val="1F77B4"/>
          </a:solidFill>
          <a:ln w="12700">
            <a:solidFill>
              <a:srgbClr val="1F77B4"/>
            </a:solidFill>
            <a:prstDash val="solid"/>
          </a:ln>
        </p:spPr>
        <p:txBody>
          <a:bodyPr/>
          <a:lstStyle/>
          <a:p>
            <a:endParaRPr lang="en-US"/>
          </a:p>
        </p:txBody>
      </p:sp>
      <p:sp>
        <p:nvSpPr>
          <p:cNvPr id="8" name="Text 6"/>
          <p:cNvSpPr/>
          <p:nvPr/>
        </p:nvSpPr>
        <p:spPr>
          <a:xfrm>
            <a:off x="804672" y="1124712"/>
            <a:ext cx="511149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Business context</a:t>
            </a:r>
            <a:endParaRPr lang="en-US" sz="1400" dirty="0"/>
          </a:p>
        </p:txBody>
      </p:sp>
      <p:sp>
        <p:nvSpPr>
          <p:cNvPr id="9" name="Text 7"/>
          <p:cNvSpPr/>
          <p:nvPr/>
        </p:nvSpPr>
        <p:spPr>
          <a:xfrm>
            <a:off x="804672" y="1463040"/>
            <a:ext cx="5111496" cy="169164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Dropout is typically a process, not a single event — early signals matter.</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Institutions need decision-support to prioritize outreach and resources.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Goal: estimate dropout risk to enable earlier, evidence-based interventions.</a:t>
            </a:r>
            <a:endParaRPr lang="en-US" sz="1200" dirty="0"/>
          </a:p>
        </p:txBody>
      </p:sp>
      <p:sp>
        <p:nvSpPr>
          <p:cNvPr id="10" name="Shape 8"/>
          <p:cNvSpPr/>
          <p:nvPr/>
        </p:nvSpPr>
        <p:spPr>
          <a:xfrm>
            <a:off x="6263640" y="960120"/>
            <a:ext cx="5257800" cy="2331720"/>
          </a:xfrm>
          <a:prstGeom prst="roundRect">
            <a:avLst/>
          </a:prstGeom>
          <a:solidFill>
            <a:srgbClr val="FFFFFF"/>
          </a:solidFill>
          <a:ln w="12700">
            <a:solidFill>
              <a:schemeClr val="accent6">
                <a:lumMod val="50000"/>
              </a:schemeClr>
            </a:solidFill>
            <a:prstDash val="solid"/>
          </a:ln>
          <a:effectLst>
            <a:outerShdw blurRad="25400" dist="19050" dir="2700000" algn="bl" rotWithShape="0">
              <a:srgbClr val="000000">
                <a:alpha val="14000"/>
              </a:srgbClr>
            </a:outerShdw>
          </a:effectLst>
        </p:spPr>
        <p:txBody>
          <a:bodyPr/>
          <a:lstStyle/>
          <a:p>
            <a:endParaRPr lang="en-US"/>
          </a:p>
        </p:txBody>
      </p:sp>
      <p:sp>
        <p:nvSpPr>
          <p:cNvPr id="11" name="Shape 9"/>
          <p:cNvSpPr/>
          <p:nvPr/>
        </p:nvSpPr>
        <p:spPr>
          <a:xfrm>
            <a:off x="6263640" y="960120"/>
            <a:ext cx="73152" cy="2331720"/>
          </a:xfrm>
          <a:prstGeom prst="rect">
            <a:avLst/>
          </a:prstGeom>
          <a:solidFill>
            <a:srgbClr val="0E7C7B"/>
          </a:solidFill>
          <a:ln w="12700">
            <a:solidFill>
              <a:srgbClr val="0E7C7B"/>
            </a:solidFill>
            <a:prstDash val="solid"/>
          </a:ln>
        </p:spPr>
        <p:txBody>
          <a:bodyPr/>
          <a:lstStyle/>
          <a:p>
            <a:endParaRPr lang="en-US"/>
          </a:p>
        </p:txBody>
      </p:sp>
      <p:sp>
        <p:nvSpPr>
          <p:cNvPr id="12" name="Text 10"/>
          <p:cNvSpPr/>
          <p:nvPr/>
        </p:nvSpPr>
        <p:spPr>
          <a:xfrm>
            <a:off x="6428232" y="1124712"/>
            <a:ext cx="492861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Operational framing</a:t>
            </a:r>
            <a:endParaRPr lang="en-US" sz="1400" dirty="0"/>
          </a:p>
        </p:txBody>
      </p:sp>
      <p:sp>
        <p:nvSpPr>
          <p:cNvPr id="13" name="Text 11"/>
          <p:cNvSpPr/>
          <p:nvPr/>
        </p:nvSpPr>
        <p:spPr>
          <a:xfrm>
            <a:off x="6428232" y="1463040"/>
            <a:ext cx="4928616" cy="169164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Use predicted probabilities (risk scores), not only hard labels.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Intervention capacity constraint: flag top 10% highest-risk students.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Human-in-the-loop: model supports advisors; does not replace policy judgment.</a:t>
            </a:r>
            <a:endParaRPr lang="en-US" sz="1200" dirty="0"/>
          </a:p>
        </p:txBody>
      </p:sp>
      <p:sp>
        <p:nvSpPr>
          <p:cNvPr id="14" name="Shape 12"/>
          <p:cNvSpPr/>
          <p:nvPr/>
        </p:nvSpPr>
        <p:spPr>
          <a:xfrm>
            <a:off x="640080" y="3520440"/>
            <a:ext cx="10881360" cy="2834640"/>
          </a:xfrm>
          <a:prstGeom prst="roundRect">
            <a:avLst/>
          </a:prstGeom>
          <a:solidFill>
            <a:srgbClr val="FFFFFF"/>
          </a:solidFill>
          <a:ln w="12700">
            <a:solidFill>
              <a:schemeClr val="bg2">
                <a:lumMod val="10000"/>
              </a:schemeClr>
            </a:solidFill>
            <a:prstDash val="solid"/>
          </a:ln>
          <a:effectLst>
            <a:outerShdw blurRad="25400" dist="15240" dir="2700000" algn="bl" rotWithShape="0">
              <a:srgbClr val="000000">
                <a:alpha val="12000"/>
              </a:srgbClr>
            </a:outerShdw>
          </a:effectLst>
        </p:spPr>
        <p:txBody>
          <a:bodyPr/>
          <a:lstStyle/>
          <a:p>
            <a:endParaRPr lang="en-US"/>
          </a:p>
        </p:txBody>
      </p:sp>
      <p:sp>
        <p:nvSpPr>
          <p:cNvPr id="15" name="Text 13"/>
          <p:cNvSpPr/>
          <p:nvPr/>
        </p:nvSpPr>
        <p:spPr>
          <a:xfrm>
            <a:off x="822960" y="3703320"/>
            <a:ext cx="10515600" cy="36576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Problem statement (technical)</a:t>
            </a:r>
            <a:endParaRPr lang="en-US" sz="1400" dirty="0"/>
          </a:p>
        </p:txBody>
      </p:sp>
      <p:sp>
        <p:nvSpPr>
          <p:cNvPr id="16" name="Text 14"/>
          <p:cNvSpPr/>
          <p:nvPr/>
        </p:nvSpPr>
        <p:spPr>
          <a:xfrm>
            <a:off x="822960" y="4069080"/>
            <a:ext cx="10515600" cy="822960"/>
          </a:xfrm>
          <a:prstGeom prst="rect">
            <a:avLst/>
          </a:prstGeom>
          <a:noFill/>
          <a:ln/>
        </p:spPr>
        <p:txBody>
          <a:bodyPr wrap="square" rtlCol="0" anchor="t"/>
          <a:lstStyle/>
          <a:p>
            <a:pPr marL="0" indent="0">
              <a:buNone/>
            </a:pPr>
            <a:r>
              <a:rPr lang="en-US" sz="1300" dirty="0">
                <a:solidFill>
                  <a:srgbClr val="374151"/>
                </a:solidFill>
                <a:latin typeface="Calibri" pitchFamily="34" charset="0"/>
                <a:ea typeface="Calibri" pitchFamily="34" charset="-122"/>
                <a:cs typeface="Calibri" pitchFamily="34" charset="-120"/>
              </a:rPr>
              <a:t>Given enrollment-time student records, predict the probability that a student will drop out (vs. remain enrolled/graduate) to prioritize proactive support.</a:t>
            </a:r>
            <a:endParaRPr lang="en-US" sz="1300" dirty="0"/>
          </a:p>
        </p:txBody>
      </p:sp>
      <p:sp>
        <p:nvSpPr>
          <p:cNvPr id="17" name="Text 15"/>
          <p:cNvSpPr/>
          <p:nvPr/>
        </p:nvSpPr>
        <p:spPr>
          <a:xfrm>
            <a:off x="822960" y="5074920"/>
            <a:ext cx="2834640" cy="320040"/>
          </a:xfrm>
          <a:prstGeom prst="rect">
            <a:avLst/>
          </a:prstGeom>
          <a:noFill/>
          <a:ln/>
        </p:spPr>
        <p:txBody>
          <a:bodyPr wrap="square" rtlCol="0" anchor="ctr"/>
          <a:lstStyle/>
          <a:p>
            <a:pPr marL="0" indent="0">
              <a:buNone/>
            </a:pPr>
            <a:r>
              <a:rPr lang="en-US" sz="1200" b="1" dirty="0">
                <a:solidFill>
                  <a:srgbClr val="111827"/>
                </a:solidFill>
                <a:latin typeface="Calibri" pitchFamily="34" charset="0"/>
                <a:ea typeface="Calibri" pitchFamily="34" charset="-122"/>
                <a:cs typeface="Calibri" pitchFamily="34" charset="-120"/>
              </a:rPr>
              <a:t>Primary stakeholders</a:t>
            </a:r>
            <a:endParaRPr lang="en-US" sz="1200" dirty="0"/>
          </a:p>
        </p:txBody>
      </p:sp>
      <p:sp>
        <p:nvSpPr>
          <p:cNvPr id="18" name="Text 16"/>
          <p:cNvSpPr/>
          <p:nvPr/>
        </p:nvSpPr>
        <p:spPr>
          <a:xfrm>
            <a:off x="868680" y="5394960"/>
            <a:ext cx="3017520" cy="822960"/>
          </a:xfrm>
          <a:prstGeom prst="rect">
            <a:avLst/>
          </a:prstGeom>
          <a:noFill/>
          <a:ln/>
        </p:spPr>
        <p:txBody>
          <a:bodyPr wrap="square" rtlCol="0" anchor="ctr"/>
          <a:lstStyle/>
          <a:p>
            <a:pPr marL="0" indent="0">
              <a:buNone/>
            </a:pPr>
            <a:r>
              <a:rPr lang="en-US" sz="1200" dirty="0">
                <a:solidFill>
                  <a:srgbClr val="374151"/>
                </a:solidFill>
                <a:latin typeface="Calibri" pitchFamily="34" charset="0"/>
                <a:ea typeface="Calibri" pitchFamily="34" charset="-122"/>
                <a:cs typeface="Calibri" pitchFamily="34" charset="-120"/>
              </a:rPr>
              <a:t>• Student success / tutoring team</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Academic advisers</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Program leadership</a:t>
            </a:r>
            <a:endParaRPr lang="en-US" sz="1200" dirty="0"/>
          </a:p>
        </p:txBody>
      </p:sp>
      <p:sp>
        <p:nvSpPr>
          <p:cNvPr id="19" name="Text 17"/>
          <p:cNvSpPr/>
          <p:nvPr/>
        </p:nvSpPr>
        <p:spPr>
          <a:xfrm>
            <a:off x="4114800" y="5074920"/>
            <a:ext cx="2743200" cy="320040"/>
          </a:xfrm>
          <a:prstGeom prst="rect">
            <a:avLst/>
          </a:prstGeom>
          <a:noFill/>
          <a:ln/>
        </p:spPr>
        <p:txBody>
          <a:bodyPr wrap="square" rtlCol="0" anchor="ctr"/>
          <a:lstStyle/>
          <a:p>
            <a:pPr marL="0" indent="0">
              <a:buNone/>
            </a:pPr>
            <a:r>
              <a:rPr lang="en-US" sz="1200" b="1" dirty="0">
                <a:solidFill>
                  <a:srgbClr val="111827"/>
                </a:solidFill>
                <a:latin typeface="Calibri" pitchFamily="34" charset="0"/>
                <a:ea typeface="Calibri" pitchFamily="34" charset="-122"/>
                <a:cs typeface="Calibri" pitchFamily="34" charset="-120"/>
              </a:rPr>
              <a:t>Decision output</a:t>
            </a:r>
            <a:endParaRPr lang="en-US" sz="1200" dirty="0"/>
          </a:p>
        </p:txBody>
      </p:sp>
      <p:sp>
        <p:nvSpPr>
          <p:cNvPr id="20" name="Text 18"/>
          <p:cNvSpPr/>
          <p:nvPr/>
        </p:nvSpPr>
        <p:spPr>
          <a:xfrm>
            <a:off x="4160520" y="5394960"/>
            <a:ext cx="2926080" cy="822960"/>
          </a:xfrm>
          <a:prstGeom prst="rect">
            <a:avLst/>
          </a:prstGeom>
          <a:noFill/>
          <a:ln/>
        </p:spPr>
        <p:txBody>
          <a:bodyPr wrap="square" rtlCol="0" anchor="ctr"/>
          <a:lstStyle/>
          <a:p>
            <a:pPr marL="0" indent="0">
              <a:buNone/>
            </a:pPr>
            <a:r>
              <a:rPr lang="en-US" sz="1200" dirty="0">
                <a:solidFill>
                  <a:srgbClr val="374151"/>
                </a:solidFill>
                <a:latin typeface="Calibri" pitchFamily="34" charset="0"/>
                <a:ea typeface="Calibri" pitchFamily="34" charset="-122"/>
                <a:cs typeface="Calibri" pitchFamily="34" charset="-120"/>
              </a:rPr>
              <a:t>• Risk score (0–1)</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Top-10% intervention list</a:t>
            </a:r>
            <a:endParaRPr lang="en-US" sz="1200" dirty="0"/>
          </a:p>
        </p:txBody>
      </p:sp>
      <p:sp>
        <p:nvSpPr>
          <p:cNvPr id="21" name="Text 19"/>
          <p:cNvSpPr/>
          <p:nvPr/>
        </p:nvSpPr>
        <p:spPr>
          <a:xfrm>
            <a:off x="7269480" y="5074920"/>
            <a:ext cx="3931920" cy="320040"/>
          </a:xfrm>
          <a:prstGeom prst="rect">
            <a:avLst/>
          </a:prstGeom>
          <a:noFill/>
          <a:ln/>
        </p:spPr>
        <p:txBody>
          <a:bodyPr wrap="square" rtlCol="0" anchor="ctr"/>
          <a:lstStyle/>
          <a:p>
            <a:pPr marL="0" indent="0">
              <a:buNone/>
            </a:pPr>
            <a:r>
              <a:rPr lang="en-US" sz="1200" b="1" dirty="0">
                <a:solidFill>
                  <a:srgbClr val="111827"/>
                </a:solidFill>
                <a:latin typeface="Calibri" pitchFamily="34" charset="0"/>
                <a:ea typeface="Calibri" pitchFamily="34" charset="-122"/>
                <a:cs typeface="Calibri" pitchFamily="34" charset="-120"/>
              </a:rPr>
              <a:t>Key constraints</a:t>
            </a:r>
            <a:endParaRPr lang="en-US" sz="1200" dirty="0"/>
          </a:p>
        </p:txBody>
      </p:sp>
      <p:sp>
        <p:nvSpPr>
          <p:cNvPr id="22" name="Text 20"/>
          <p:cNvSpPr/>
          <p:nvPr/>
        </p:nvSpPr>
        <p:spPr>
          <a:xfrm>
            <a:off x="7315200" y="5394960"/>
            <a:ext cx="4023360" cy="822960"/>
          </a:xfrm>
          <a:prstGeom prst="rect">
            <a:avLst/>
          </a:prstGeom>
          <a:noFill/>
          <a:ln/>
        </p:spPr>
        <p:txBody>
          <a:bodyPr wrap="square" rtlCol="0" anchor="ctr"/>
          <a:lstStyle/>
          <a:p>
            <a:pPr marL="0" indent="0">
              <a:buNone/>
            </a:pPr>
            <a:r>
              <a:rPr lang="en-US" sz="1200" dirty="0">
                <a:solidFill>
                  <a:srgbClr val="374151"/>
                </a:solidFill>
                <a:latin typeface="Calibri" pitchFamily="34" charset="0"/>
                <a:ea typeface="Calibri" pitchFamily="34" charset="-122"/>
                <a:cs typeface="Calibri" pitchFamily="34" charset="-120"/>
              </a:rPr>
              <a:t>• Class imbalance</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Fair access to support</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Model interpretability</a:t>
            </a:r>
            <a:endParaRPr lang="en-US" sz="1200" dirty="0"/>
          </a:p>
        </p:txBody>
      </p:sp>
      <p:sp>
        <p:nvSpPr>
          <p:cNvPr id="23" name="Shape 21"/>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24" name="Text 22"/>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1</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Task Type, Success Metrics &amp; Evaluation Plan</a:t>
            </a:r>
            <a:endParaRPr lang="en-US" sz="2000" dirty="0"/>
          </a:p>
        </p:txBody>
      </p:sp>
      <p:sp>
        <p:nvSpPr>
          <p:cNvPr id="6" name="Shape 4"/>
          <p:cNvSpPr/>
          <p:nvPr/>
        </p:nvSpPr>
        <p:spPr>
          <a:xfrm>
            <a:off x="640080" y="960120"/>
            <a:ext cx="5440680" cy="2331720"/>
          </a:xfrm>
          <a:prstGeom prst="roundRect">
            <a:avLst/>
          </a:prstGeom>
          <a:solidFill>
            <a:srgbClr val="FFFFFF"/>
          </a:solidFill>
          <a:ln w="12700">
            <a:solidFill>
              <a:schemeClr val="accent2"/>
            </a:solidFill>
            <a:prstDash val="solid"/>
          </a:ln>
          <a:effectLst>
            <a:outerShdw blurRad="25400" dist="19050" dir="2700000" algn="bl" rotWithShape="0">
              <a:srgbClr val="000000">
                <a:alpha val="14000"/>
              </a:srgbClr>
            </a:outerShdw>
          </a:effectLst>
        </p:spPr>
        <p:txBody>
          <a:bodyPr/>
          <a:lstStyle/>
          <a:p>
            <a:endParaRPr lang="en-US"/>
          </a:p>
        </p:txBody>
      </p:sp>
      <p:sp>
        <p:nvSpPr>
          <p:cNvPr id="7" name="Shape 5"/>
          <p:cNvSpPr/>
          <p:nvPr/>
        </p:nvSpPr>
        <p:spPr>
          <a:xfrm>
            <a:off x="640080" y="960120"/>
            <a:ext cx="73152" cy="2331720"/>
          </a:xfrm>
          <a:prstGeom prst="rect">
            <a:avLst/>
          </a:prstGeom>
          <a:solidFill>
            <a:srgbClr val="F28E2B"/>
          </a:solidFill>
          <a:ln w="12700">
            <a:solidFill>
              <a:srgbClr val="F28E2B"/>
            </a:solidFill>
            <a:prstDash val="solid"/>
          </a:ln>
        </p:spPr>
        <p:txBody>
          <a:bodyPr/>
          <a:lstStyle/>
          <a:p>
            <a:endParaRPr lang="en-US"/>
          </a:p>
        </p:txBody>
      </p:sp>
      <p:sp>
        <p:nvSpPr>
          <p:cNvPr id="8" name="Text 6"/>
          <p:cNvSpPr/>
          <p:nvPr/>
        </p:nvSpPr>
        <p:spPr>
          <a:xfrm>
            <a:off x="804672" y="1124712"/>
            <a:ext cx="511149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ML task type</a:t>
            </a:r>
            <a:endParaRPr lang="en-US" sz="1400" dirty="0"/>
          </a:p>
        </p:txBody>
      </p:sp>
      <p:sp>
        <p:nvSpPr>
          <p:cNvPr id="9" name="Text 7"/>
          <p:cNvSpPr/>
          <p:nvPr/>
        </p:nvSpPr>
        <p:spPr>
          <a:xfrm>
            <a:off x="804672" y="1463040"/>
            <a:ext cx="5111496" cy="169164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Supervised classification (binary for intervention): Dropout vs Non-dropout.</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Probability calibration preferred for ranking and thresholding.</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Train/test split with stratification; 5-fold stratified cross-validation.</a:t>
            </a:r>
            <a:endParaRPr lang="en-US" sz="1200" dirty="0"/>
          </a:p>
        </p:txBody>
      </p:sp>
      <p:sp>
        <p:nvSpPr>
          <p:cNvPr id="10" name="Shape 8"/>
          <p:cNvSpPr/>
          <p:nvPr/>
        </p:nvSpPr>
        <p:spPr>
          <a:xfrm>
            <a:off x="6263640" y="960120"/>
            <a:ext cx="5257800" cy="2331720"/>
          </a:xfrm>
          <a:prstGeom prst="roundRect">
            <a:avLst/>
          </a:prstGeom>
          <a:solidFill>
            <a:srgbClr val="FFFFFF"/>
          </a:solidFill>
          <a:ln w="12700">
            <a:solidFill>
              <a:schemeClr val="accent1"/>
            </a:solidFill>
            <a:prstDash val="solid"/>
          </a:ln>
          <a:effectLst>
            <a:outerShdw blurRad="25400" dist="19050" dir="2700000" algn="bl" rotWithShape="0">
              <a:srgbClr val="000000">
                <a:alpha val="14000"/>
              </a:srgbClr>
            </a:outerShdw>
          </a:effectLst>
        </p:spPr>
        <p:txBody>
          <a:bodyPr/>
          <a:lstStyle/>
          <a:p>
            <a:endParaRPr lang="en-US"/>
          </a:p>
        </p:txBody>
      </p:sp>
      <p:sp>
        <p:nvSpPr>
          <p:cNvPr id="11" name="Shape 9"/>
          <p:cNvSpPr/>
          <p:nvPr/>
        </p:nvSpPr>
        <p:spPr>
          <a:xfrm>
            <a:off x="6263640" y="960120"/>
            <a:ext cx="73152" cy="2331720"/>
          </a:xfrm>
          <a:prstGeom prst="rect">
            <a:avLst/>
          </a:prstGeom>
          <a:solidFill>
            <a:srgbClr val="1F77B4"/>
          </a:solidFill>
          <a:ln w="12700">
            <a:solidFill>
              <a:srgbClr val="1F77B4"/>
            </a:solidFill>
            <a:prstDash val="solid"/>
          </a:ln>
        </p:spPr>
        <p:txBody>
          <a:bodyPr/>
          <a:lstStyle/>
          <a:p>
            <a:endParaRPr lang="en-US"/>
          </a:p>
        </p:txBody>
      </p:sp>
      <p:sp>
        <p:nvSpPr>
          <p:cNvPr id="12" name="Text 10"/>
          <p:cNvSpPr/>
          <p:nvPr/>
        </p:nvSpPr>
        <p:spPr>
          <a:xfrm>
            <a:off x="6428232" y="1124712"/>
            <a:ext cx="492861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Success metrics</a:t>
            </a:r>
            <a:endParaRPr lang="en-US" sz="1400" dirty="0"/>
          </a:p>
        </p:txBody>
      </p:sp>
      <p:sp>
        <p:nvSpPr>
          <p:cNvPr id="13" name="Text 11"/>
          <p:cNvSpPr/>
          <p:nvPr/>
        </p:nvSpPr>
        <p:spPr>
          <a:xfrm>
            <a:off x="6428232" y="1463040"/>
            <a:ext cx="4928616" cy="169164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Primary: ROC-AUC (robust to imbalance).</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Secondary: F1, precision, recall; confusion matrix.</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Business KPI proxy: capture rate within top-10% outreach capacity.</a:t>
            </a:r>
            <a:endParaRPr lang="en-US" sz="1200" dirty="0"/>
          </a:p>
        </p:txBody>
      </p:sp>
      <p:sp>
        <p:nvSpPr>
          <p:cNvPr id="14" name="Shape 12"/>
          <p:cNvSpPr/>
          <p:nvPr/>
        </p:nvSpPr>
        <p:spPr>
          <a:xfrm>
            <a:off x="914400" y="3611880"/>
            <a:ext cx="10332720" cy="256032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15" name="Text 13"/>
          <p:cNvSpPr/>
          <p:nvPr/>
        </p:nvSpPr>
        <p:spPr>
          <a:xfrm>
            <a:off x="1097280" y="3749040"/>
            <a:ext cx="1005840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End-to-end evaluation logic</a:t>
            </a:r>
            <a:endParaRPr lang="en-US" sz="1400" dirty="0"/>
          </a:p>
        </p:txBody>
      </p:sp>
      <p:sp>
        <p:nvSpPr>
          <p:cNvPr id="16" name="Shape 14"/>
          <p:cNvSpPr/>
          <p:nvPr/>
        </p:nvSpPr>
        <p:spPr>
          <a:xfrm>
            <a:off x="1188720" y="4251960"/>
            <a:ext cx="2971800" cy="777240"/>
          </a:xfrm>
          <a:prstGeom prst="roundRect">
            <a:avLst/>
          </a:prstGeom>
          <a:solidFill>
            <a:srgbClr val="F3F4F6"/>
          </a:solidFill>
          <a:ln w="12700">
            <a:solidFill>
              <a:srgbClr val="E5E7EB"/>
            </a:solidFill>
            <a:prstDash val="solid"/>
          </a:ln>
        </p:spPr>
        <p:txBody>
          <a:bodyPr/>
          <a:lstStyle/>
          <a:p>
            <a:endParaRPr lang="en-US"/>
          </a:p>
        </p:txBody>
      </p:sp>
      <p:sp>
        <p:nvSpPr>
          <p:cNvPr id="17" name="Text 15"/>
          <p:cNvSpPr/>
          <p:nvPr/>
        </p:nvSpPr>
        <p:spPr>
          <a:xfrm>
            <a:off x="1188720" y="4343400"/>
            <a:ext cx="2971800" cy="594360"/>
          </a:xfrm>
          <a:prstGeom prst="rect">
            <a:avLst/>
          </a:prstGeom>
          <a:noFill/>
          <a:ln/>
        </p:spPr>
        <p:txBody>
          <a:bodyPr wrap="square" rtlCol="0" anchor="ctr"/>
          <a:lstStyle/>
          <a:p>
            <a:pPr marL="0" indent="0" algn="ctr">
              <a:buNone/>
            </a:pPr>
            <a:r>
              <a:rPr lang="en-US" sz="1200" dirty="0">
                <a:solidFill>
                  <a:srgbClr val="111827"/>
                </a:solidFill>
                <a:latin typeface="Calibri" pitchFamily="34" charset="0"/>
                <a:ea typeface="Calibri" pitchFamily="34" charset="-122"/>
                <a:cs typeface="Calibri" pitchFamily="34" charset="-120"/>
              </a:rPr>
              <a:t>Student records</a:t>
            </a:r>
            <a:endParaRPr lang="en-US" sz="1200" dirty="0"/>
          </a:p>
          <a:p>
            <a:pPr marL="0" indent="0" algn="ctr">
              <a:buNone/>
            </a:pPr>
            <a:r>
              <a:rPr lang="en-US" sz="1200" dirty="0">
                <a:solidFill>
                  <a:srgbClr val="111827"/>
                </a:solidFill>
                <a:latin typeface="Calibri" pitchFamily="34" charset="0"/>
                <a:ea typeface="Calibri" pitchFamily="34" charset="-122"/>
                <a:cs typeface="Calibri" pitchFamily="34" charset="-120"/>
              </a:rPr>
              <a:t>(enrollment-time)</a:t>
            </a:r>
            <a:endParaRPr lang="en-US" sz="1200" dirty="0"/>
          </a:p>
        </p:txBody>
      </p:sp>
      <p:sp>
        <p:nvSpPr>
          <p:cNvPr id="18" name="Shape 16"/>
          <p:cNvSpPr/>
          <p:nvPr/>
        </p:nvSpPr>
        <p:spPr>
          <a:xfrm>
            <a:off x="4160520" y="4434840"/>
            <a:ext cx="502920" cy="411480"/>
          </a:xfrm>
          <a:prstGeom prst="rightArrow">
            <a:avLst/>
          </a:prstGeom>
          <a:solidFill>
            <a:srgbClr val="6B7280"/>
          </a:solidFill>
          <a:ln w="12700">
            <a:solidFill>
              <a:srgbClr val="6B7280"/>
            </a:solidFill>
            <a:prstDash val="solid"/>
          </a:ln>
        </p:spPr>
        <p:txBody>
          <a:bodyPr/>
          <a:lstStyle/>
          <a:p>
            <a:endParaRPr lang="en-US"/>
          </a:p>
        </p:txBody>
      </p:sp>
      <p:sp>
        <p:nvSpPr>
          <p:cNvPr id="19" name="Shape 17"/>
          <p:cNvSpPr/>
          <p:nvPr/>
        </p:nvSpPr>
        <p:spPr>
          <a:xfrm>
            <a:off x="4663440" y="4251960"/>
            <a:ext cx="2971800" cy="777240"/>
          </a:xfrm>
          <a:prstGeom prst="roundRect">
            <a:avLst/>
          </a:prstGeom>
          <a:solidFill>
            <a:srgbClr val="EAF2FF"/>
          </a:solidFill>
          <a:ln w="12700">
            <a:solidFill>
              <a:srgbClr val="E5E7EB"/>
            </a:solidFill>
            <a:prstDash val="solid"/>
          </a:ln>
        </p:spPr>
        <p:txBody>
          <a:bodyPr/>
          <a:lstStyle/>
          <a:p>
            <a:endParaRPr lang="en-US"/>
          </a:p>
        </p:txBody>
      </p:sp>
      <p:sp>
        <p:nvSpPr>
          <p:cNvPr id="20" name="Text 18"/>
          <p:cNvSpPr/>
          <p:nvPr/>
        </p:nvSpPr>
        <p:spPr>
          <a:xfrm>
            <a:off x="4663440" y="4343400"/>
            <a:ext cx="2971800" cy="594360"/>
          </a:xfrm>
          <a:prstGeom prst="rect">
            <a:avLst/>
          </a:prstGeom>
          <a:noFill/>
          <a:ln/>
        </p:spPr>
        <p:txBody>
          <a:bodyPr wrap="square" rtlCol="0" anchor="ctr"/>
          <a:lstStyle/>
          <a:p>
            <a:pPr marL="0" indent="0" algn="ctr">
              <a:buNone/>
            </a:pPr>
            <a:r>
              <a:rPr lang="en-US" sz="1200" dirty="0">
                <a:solidFill>
                  <a:srgbClr val="111827"/>
                </a:solidFill>
                <a:latin typeface="Calibri" pitchFamily="34" charset="0"/>
                <a:ea typeface="Calibri" pitchFamily="34" charset="-122"/>
                <a:cs typeface="Calibri" pitchFamily="34" charset="-120"/>
              </a:rPr>
              <a:t>Model</a:t>
            </a:r>
            <a:endParaRPr lang="en-US" sz="1200" dirty="0"/>
          </a:p>
          <a:p>
            <a:pPr marL="0" indent="0" algn="ctr">
              <a:buNone/>
            </a:pPr>
            <a:r>
              <a:rPr lang="en-US" sz="1200" dirty="0">
                <a:solidFill>
                  <a:srgbClr val="111827"/>
                </a:solidFill>
                <a:latin typeface="Calibri" pitchFamily="34" charset="0"/>
                <a:ea typeface="Calibri" pitchFamily="34" charset="-122"/>
                <a:cs typeface="Calibri" pitchFamily="34" charset="-120"/>
              </a:rPr>
              <a:t>(probability output)</a:t>
            </a:r>
            <a:endParaRPr lang="en-US" sz="1200" dirty="0"/>
          </a:p>
        </p:txBody>
      </p:sp>
      <p:sp>
        <p:nvSpPr>
          <p:cNvPr id="21" name="Shape 19"/>
          <p:cNvSpPr/>
          <p:nvPr/>
        </p:nvSpPr>
        <p:spPr>
          <a:xfrm>
            <a:off x="7635240" y="4434840"/>
            <a:ext cx="502920" cy="411480"/>
          </a:xfrm>
          <a:prstGeom prst="rightArrow">
            <a:avLst/>
          </a:prstGeom>
          <a:solidFill>
            <a:srgbClr val="6B7280"/>
          </a:solidFill>
          <a:ln w="12700">
            <a:solidFill>
              <a:srgbClr val="6B7280"/>
            </a:solidFill>
            <a:prstDash val="solid"/>
          </a:ln>
        </p:spPr>
        <p:txBody>
          <a:bodyPr/>
          <a:lstStyle/>
          <a:p>
            <a:endParaRPr lang="en-US"/>
          </a:p>
        </p:txBody>
      </p:sp>
      <p:sp>
        <p:nvSpPr>
          <p:cNvPr id="22" name="Shape 20"/>
          <p:cNvSpPr/>
          <p:nvPr/>
        </p:nvSpPr>
        <p:spPr>
          <a:xfrm>
            <a:off x="8138160" y="4251960"/>
            <a:ext cx="2971800" cy="777240"/>
          </a:xfrm>
          <a:prstGeom prst="roundRect">
            <a:avLst/>
          </a:prstGeom>
          <a:solidFill>
            <a:srgbClr val="FFF4E5"/>
          </a:solidFill>
          <a:ln w="12700">
            <a:solidFill>
              <a:srgbClr val="E5E7EB"/>
            </a:solidFill>
            <a:prstDash val="solid"/>
          </a:ln>
        </p:spPr>
        <p:txBody>
          <a:bodyPr/>
          <a:lstStyle/>
          <a:p>
            <a:endParaRPr lang="en-US"/>
          </a:p>
        </p:txBody>
      </p:sp>
      <p:sp>
        <p:nvSpPr>
          <p:cNvPr id="23" name="Text 21"/>
          <p:cNvSpPr/>
          <p:nvPr/>
        </p:nvSpPr>
        <p:spPr>
          <a:xfrm>
            <a:off x="8138160" y="4343400"/>
            <a:ext cx="2971800" cy="594360"/>
          </a:xfrm>
          <a:prstGeom prst="rect">
            <a:avLst/>
          </a:prstGeom>
          <a:noFill/>
          <a:ln/>
        </p:spPr>
        <p:txBody>
          <a:bodyPr wrap="square" rtlCol="0" anchor="ctr"/>
          <a:lstStyle/>
          <a:p>
            <a:pPr marL="0" indent="0" algn="ctr">
              <a:buNone/>
            </a:pPr>
            <a:r>
              <a:rPr lang="en-US" sz="1200" dirty="0">
                <a:solidFill>
                  <a:srgbClr val="111827"/>
                </a:solidFill>
                <a:latin typeface="Calibri" pitchFamily="34" charset="0"/>
                <a:ea typeface="Calibri" pitchFamily="34" charset="-122"/>
                <a:cs typeface="Calibri" pitchFamily="34" charset="-120"/>
              </a:rPr>
              <a:t>Policy</a:t>
            </a:r>
            <a:endParaRPr lang="en-US" sz="1200" dirty="0"/>
          </a:p>
          <a:p>
            <a:pPr marL="0" indent="0" algn="ctr">
              <a:buNone/>
            </a:pPr>
            <a:r>
              <a:rPr lang="en-US" sz="1200" dirty="0">
                <a:solidFill>
                  <a:srgbClr val="111827"/>
                </a:solidFill>
                <a:latin typeface="Calibri" pitchFamily="34" charset="0"/>
                <a:ea typeface="Calibri" pitchFamily="34" charset="-122"/>
                <a:cs typeface="Calibri" pitchFamily="34" charset="-120"/>
              </a:rPr>
              <a:t>(top 10% flagged)</a:t>
            </a:r>
            <a:endParaRPr lang="en-US" sz="1200" dirty="0"/>
          </a:p>
        </p:txBody>
      </p:sp>
      <p:sp>
        <p:nvSpPr>
          <p:cNvPr id="24" name="Text 22"/>
          <p:cNvSpPr/>
          <p:nvPr/>
        </p:nvSpPr>
        <p:spPr>
          <a:xfrm>
            <a:off x="1188720" y="5303520"/>
            <a:ext cx="10058400" cy="548640"/>
          </a:xfrm>
          <a:prstGeom prst="rect">
            <a:avLst/>
          </a:prstGeom>
          <a:noFill/>
          <a:ln/>
        </p:spPr>
        <p:txBody>
          <a:bodyPr wrap="square" rtlCol="0" anchor="ctr"/>
          <a:lstStyle/>
          <a:p>
            <a:pPr marL="0" indent="0">
              <a:buNone/>
            </a:pPr>
            <a:r>
              <a:rPr lang="en-US" sz="1200" dirty="0">
                <a:solidFill>
                  <a:srgbClr val="374151"/>
                </a:solidFill>
                <a:latin typeface="Calibri" pitchFamily="34" charset="0"/>
                <a:ea typeface="Calibri" pitchFamily="34" charset="-122"/>
                <a:cs typeface="Calibri" pitchFamily="34" charset="-120"/>
              </a:rPr>
              <a:t>Evaluate ranking quality (AUC) and intervention effectiveness (precision/recall within capacity).</a:t>
            </a:r>
            <a:endParaRPr lang="en-US" sz="1200" dirty="0"/>
          </a:p>
        </p:txBody>
      </p:sp>
      <p:sp>
        <p:nvSpPr>
          <p:cNvPr id="25" name="Shape 23"/>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26" name="Text 24"/>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2</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Collection &amp; Understanding — Dataset Selection</a:t>
            </a:r>
            <a:endParaRPr lang="en-US" sz="2000" dirty="0"/>
          </a:p>
        </p:txBody>
      </p:sp>
      <p:sp>
        <p:nvSpPr>
          <p:cNvPr id="6" name="Shape 4"/>
          <p:cNvSpPr/>
          <p:nvPr/>
        </p:nvSpPr>
        <p:spPr>
          <a:xfrm>
            <a:off x="640080" y="960120"/>
            <a:ext cx="5577840" cy="2514600"/>
          </a:xfrm>
          <a:prstGeom prst="roundRect">
            <a:avLst/>
          </a:prstGeom>
          <a:solidFill>
            <a:srgbClr val="FFFFFF"/>
          </a:solidFill>
          <a:ln w="12700">
            <a:solidFill>
              <a:schemeClr val="accent1"/>
            </a:solidFill>
            <a:prstDash val="solid"/>
          </a:ln>
          <a:effectLst>
            <a:outerShdw blurRad="25400" dist="19050" dir="2700000" algn="bl" rotWithShape="0">
              <a:srgbClr val="000000">
                <a:alpha val="14000"/>
              </a:srgbClr>
            </a:outerShdw>
          </a:effectLst>
        </p:spPr>
        <p:txBody>
          <a:bodyPr/>
          <a:lstStyle/>
          <a:p>
            <a:endParaRPr lang="en-US"/>
          </a:p>
        </p:txBody>
      </p:sp>
      <p:sp>
        <p:nvSpPr>
          <p:cNvPr id="7" name="Shape 5"/>
          <p:cNvSpPr/>
          <p:nvPr/>
        </p:nvSpPr>
        <p:spPr>
          <a:xfrm>
            <a:off x="640080" y="960120"/>
            <a:ext cx="73152" cy="2514600"/>
          </a:xfrm>
          <a:prstGeom prst="rect">
            <a:avLst/>
          </a:prstGeom>
          <a:solidFill>
            <a:srgbClr val="1F77B4"/>
          </a:solidFill>
          <a:ln w="12700">
            <a:solidFill>
              <a:srgbClr val="1F77B4"/>
            </a:solidFill>
            <a:prstDash val="solid"/>
          </a:ln>
        </p:spPr>
        <p:txBody>
          <a:bodyPr/>
          <a:lstStyle/>
          <a:p>
            <a:endParaRPr lang="en-US"/>
          </a:p>
        </p:txBody>
      </p:sp>
      <p:sp>
        <p:nvSpPr>
          <p:cNvPr id="8" name="Text 6"/>
          <p:cNvSpPr/>
          <p:nvPr/>
        </p:nvSpPr>
        <p:spPr>
          <a:xfrm>
            <a:off x="804672" y="1124712"/>
            <a:ext cx="524865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Dataset provenance</a:t>
            </a:r>
            <a:endParaRPr lang="en-US" sz="1400" dirty="0"/>
          </a:p>
        </p:txBody>
      </p:sp>
      <p:sp>
        <p:nvSpPr>
          <p:cNvPr id="9" name="Text 7"/>
          <p:cNvSpPr/>
          <p:nvPr/>
        </p:nvSpPr>
        <p:spPr>
          <a:xfrm>
            <a:off x="804672" y="1463040"/>
            <a:ext cx="5248656" cy="187452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UCI ML Repository — “Predict Students' Dropout and Academic Success” (ID: 697).</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Administrative + academic features available at enrollment and early semesters.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License: Creative Commons Attribution 4.0 International (CC BY 4.0); each record represents a student.</a:t>
            </a:r>
            <a:endParaRPr lang="en-US" sz="1200" dirty="0"/>
          </a:p>
        </p:txBody>
      </p:sp>
      <p:sp>
        <p:nvSpPr>
          <p:cNvPr id="10" name="Shape 8"/>
          <p:cNvSpPr/>
          <p:nvPr/>
        </p:nvSpPr>
        <p:spPr>
          <a:xfrm>
            <a:off x="6446520" y="960120"/>
            <a:ext cx="5074920" cy="2514600"/>
          </a:xfrm>
          <a:prstGeom prst="roundRect">
            <a:avLst/>
          </a:prstGeom>
          <a:solidFill>
            <a:srgbClr val="FFFFFF"/>
          </a:solidFill>
          <a:ln w="12700">
            <a:solidFill>
              <a:schemeClr val="accent6">
                <a:lumMod val="50000"/>
              </a:schemeClr>
            </a:solidFill>
            <a:prstDash val="solid"/>
          </a:ln>
          <a:effectLst>
            <a:outerShdw blurRad="25400" dist="19050" dir="2700000" algn="bl" rotWithShape="0">
              <a:srgbClr val="000000">
                <a:alpha val="14000"/>
              </a:srgbClr>
            </a:outerShdw>
          </a:effectLst>
        </p:spPr>
        <p:txBody>
          <a:bodyPr/>
          <a:lstStyle/>
          <a:p>
            <a:endParaRPr lang="en-US"/>
          </a:p>
        </p:txBody>
      </p:sp>
      <p:sp>
        <p:nvSpPr>
          <p:cNvPr id="11" name="Shape 9"/>
          <p:cNvSpPr/>
          <p:nvPr/>
        </p:nvSpPr>
        <p:spPr>
          <a:xfrm>
            <a:off x="6446520" y="960120"/>
            <a:ext cx="73152" cy="2514600"/>
          </a:xfrm>
          <a:prstGeom prst="rect">
            <a:avLst/>
          </a:prstGeom>
          <a:solidFill>
            <a:srgbClr val="0E7C7B"/>
          </a:solidFill>
          <a:ln w="12700">
            <a:solidFill>
              <a:srgbClr val="0E7C7B"/>
            </a:solidFill>
            <a:prstDash val="solid"/>
          </a:ln>
        </p:spPr>
        <p:txBody>
          <a:bodyPr/>
          <a:lstStyle/>
          <a:p>
            <a:endParaRPr lang="en-US"/>
          </a:p>
        </p:txBody>
      </p:sp>
      <p:sp>
        <p:nvSpPr>
          <p:cNvPr id="12" name="Text 10"/>
          <p:cNvSpPr/>
          <p:nvPr/>
        </p:nvSpPr>
        <p:spPr>
          <a:xfrm>
            <a:off x="6611112" y="1124712"/>
            <a:ext cx="474573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Scale &amp; composition</a:t>
            </a:r>
            <a:endParaRPr lang="en-US" sz="1400" dirty="0"/>
          </a:p>
        </p:txBody>
      </p:sp>
      <p:sp>
        <p:nvSpPr>
          <p:cNvPr id="13" name="Text 11"/>
          <p:cNvSpPr/>
          <p:nvPr/>
        </p:nvSpPr>
        <p:spPr>
          <a:xfrm>
            <a:off x="6611112" y="1463040"/>
            <a:ext cx="4745736" cy="187452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Instances: 4,424 students.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Predictors: 36 features (numeric + categorical).</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Target: 1 outcome variable (Dropout / Enrolled / Graduate).</a:t>
            </a:r>
            <a:endParaRPr lang="en-US" sz="1200" dirty="0"/>
          </a:p>
        </p:txBody>
      </p:sp>
      <p:sp>
        <p:nvSpPr>
          <p:cNvPr id="14" name="Shape 12"/>
          <p:cNvSpPr/>
          <p:nvPr/>
        </p:nvSpPr>
        <p:spPr>
          <a:xfrm>
            <a:off x="640080" y="3703320"/>
            <a:ext cx="10881360" cy="265176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15" name="Text 13"/>
          <p:cNvSpPr/>
          <p:nvPr/>
        </p:nvSpPr>
        <p:spPr>
          <a:xfrm>
            <a:off x="822960" y="3886200"/>
            <a:ext cx="1042416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Reproducible acquisition</a:t>
            </a:r>
            <a:endParaRPr lang="en-US" sz="1400" dirty="0"/>
          </a:p>
        </p:txBody>
      </p:sp>
      <p:sp>
        <p:nvSpPr>
          <p:cNvPr id="16" name="Text 14"/>
          <p:cNvSpPr/>
          <p:nvPr/>
        </p:nvSpPr>
        <p:spPr>
          <a:xfrm>
            <a:off x="868680" y="4251960"/>
            <a:ext cx="10241280" cy="1005840"/>
          </a:xfrm>
          <a:prstGeom prst="rect">
            <a:avLst/>
          </a:prstGeom>
          <a:noFill/>
          <a:ln/>
        </p:spPr>
        <p:txBody>
          <a:bodyPr wrap="square" rtlCol="0" anchor="ctr"/>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 Retrieved via ucimlrepo: fetch_ucirepo(id=697)</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 Saved as a local CSV for traceability and repeat runs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 Recommended split: 80% train / 20% test with stratification</a:t>
            </a:r>
            <a:endParaRPr lang="en-US" sz="1200" dirty="0"/>
          </a:p>
        </p:txBody>
      </p:sp>
      <p:sp>
        <p:nvSpPr>
          <p:cNvPr id="17" name="Shape 15"/>
          <p:cNvSpPr/>
          <p:nvPr/>
        </p:nvSpPr>
        <p:spPr>
          <a:xfrm>
            <a:off x="868680" y="5349240"/>
            <a:ext cx="10241280" cy="777240"/>
          </a:xfrm>
          <a:prstGeom prst="rect">
            <a:avLst/>
          </a:prstGeom>
          <a:solidFill>
            <a:srgbClr val="F8FAFC"/>
          </a:solidFill>
          <a:ln w="12700">
            <a:solidFill>
              <a:srgbClr val="E5E7EB"/>
            </a:solidFill>
            <a:prstDash val="solid"/>
          </a:ln>
        </p:spPr>
        <p:txBody>
          <a:bodyPr/>
          <a:lstStyle/>
          <a:p>
            <a:endParaRPr lang="en-US"/>
          </a:p>
        </p:txBody>
      </p:sp>
      <p:sp>
        <p:nvSpPr>
          <p:cNvPr id="18" name="Text 16"/>
          <p:cNvSpPr/>
          <p:nvPr/>
        </p:nvSpPr>
        <p:spPr>
          <a:xfrm>
            <a:off x="1051560" y="5468112"/>
            <a:ext cx="9875520" cy="54864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Note: UCI metadata reports no missing values; imputers are retained in the pipeline as a robustness safeguard for downstream use.</a:t>
            </a:r>
            <a:endParaRPr lang="en-US" sz="1100" dirty="0"/>
          </a:p>
        </p:txBody>
      </p:sp>
      <p:sp>
        <p:nvSpPr>
          <p:cNvPr id="19" name="Shape 17"/>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20" name="Text 18"/>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2</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Collection &amp; Understanding — Data Dictionary (Sample)</a:t>
            </a:r>
            <a:endParaRPr lang="en-US" sz="2000" dirty="0"/>
          </a:p>
        </p:txBody>
      </p:sp>
      <p:sp>
        <p:nvSpPr>
          <p:cNvPr id="6" name="Shape 4"/>
          <p:cNvSpPr/>
          <p:nvPr/>
        </p:nvSpPr>
        <p:spPr>
          <a:xfrm>
            <a:off x="640080" y="960120"/>
            <a:ext cx="5440680" cy="2057400"/>
          </a:xfrm>
          <a:prstGeom prst="roundRect">
            <a:avLst/>
          </a:prstGeom>
          <a:solidFill>
            <a:srgbClr val="FFFFFF"/>
          </a:solidFill>
          <a:ln w="12700">
            <a:solidFill>
              <a:schemeClr val="accent1"/>
            </a:solidFill>
            <a:prstDash val="solid"/>
          </a:ln>
          <a:effectLst>
            <a:outerShdw blurRad="25400" dist="12700" dir="2700000" algn="bl" rotWithShape="0">
              <a:srgbClr val="000000">
                <a:alpha val="10000"/>
              </a:srgbClr>
            </a:outerShdw>
          </a:effectLst>
        </p:spPr>
        <p:txBody>
          <a:bodyPr/>
          <a:lstStyle/>
          <a:p>
            <a:endParaRPr lang="en-US"/>
          </a:p>
        </p:txBody>
      </p:sp>
      <p:sp>
        <p:nvSpPr>
          <p:cNvPr id="7" name="Text 5"/>
          <p:cNvSpPr/>
          <p:nvPr/>
        </p:nvSpPr>
        <p:spPr>
          <a:xfrm>
            <a:off x="822960" y="1143000"/>
            <a:ext cx="507492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Feature groups (high level)</a:t>
            </a:r>
            <a:endParaRPr lang="en-US" sz="1400" dirty="0"/>
          </a:p>
        </p:txBody>
      </p:sp>
      <p:sp>
        <p:nvSpPr>
          <p:cNvPr id="8" name="Text 6"/>
          <p:cNvSpPr/>
          <p:nvPr/>
        </p:nvSpPr>
        <p:spPr>
          <a:xfrm>
            <a:off x="868680" y="1508760"/>
            <a:ext cx="5074920" cy="1417320"/>
          </a:xfrm>
          <a:prstGeom prst="rect">
            <a:avLst/>
          </a:prstGeom>
          <a:noFill/>
          <a:ln/>
        </p:spPr>
        <p:txBody>
          <a:bodyPr wrap="square" rtlCol="0" anchor="ctr"/>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Academic path (course, application mode/order)</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Demographics (age, gender, nationality)</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Socio-economic (parent qualifications/occupation)</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Financial status (tuition fees, scholarships)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Early academic performance (1st/2nd semester units)</a:t>
            </a:r>
            <a:endParaRPr lang="en-US" sz="1200" dirty="0"/>
          </a:p>
        </p:txBody>
      </p:sp>
      <p:sp>
        <p:nvSpPr>
          <p:cNvPr id="9" name="Shape 7"/>
          <p:cNvSpPr/>
          <p:nvPr/>
        </p:nvSpPr>
        <p:spPr>
          <a:xfrm>
            <a:off x="6263640" y="960120"/>
            <a:ext cx="5257800" cy="2057400"/>
          </a:xfrm>
          <a:prstGeom prst="roundRect">
            <a:avLst/>
          </a:prstGeom>
          <a:noFill/>
          <a:ln w="12700">
            <a:solidFill>
              <a:schemeClr val="accent6">
                <a:lumMod val="50000"/>
              </a:schemeClr>
            </a:solidFill>
            <a:prstDash val="solid"/>
          </a:ln>
        </p:spPr>
        <p:txBody>
          <a:bodyPr/>
          <a:lstStyle/>
          <a:p>
            <a:endParaRPr lang="en-US"/>
          </a:p>
        </p:txBody>
      </p:sp>
      <p:sp>
        <p:nvSpPr>
          <p:cNvPr id="10" name="Text 8"/>
          <p:cNvSpPr/>
          <p:nvPr/>
        </p:nvSpPr>
        <p:spPr>
          <a:xfrm>
            <a:off x="6446520" y="1143000"/>
            <a:ext cx="489204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Target variable</a:t>
            </a:r>
            <a:endParaRPr lang="en-US" sz="1400" dirty="0"/>
          </a:p>
        </p:txBody>
      </p:sp>
      <p:sp>
        <p:nvSpPr>
          <p:cNvPr id="11" name="Text 9"/>
          <p:cNvSpPr/>
          <p:nvPr/>
        </p:nvSpPr>
        <p:spPr>
          <a:xfrm>
            <a:off x="6446520" y="1481328"/>
            <a:ext cx="4892040" cy="548640"/>
          </a:xfrm>
          <a:prstGeom prst="rect">
            <a:avLst/>
          </a:prstGeom>
          <a:noFill/>
          <a:ln/>
        </p:spPr>
        <p:txBody>
          <a:bodyPr wrap="square" rtlCol="0" anchor="ctr"/>
          <a:lstStyle/>
          <a:p>
            <a:pPr marL="0" indent="0">
              <a:buNone/>
            </a:pPr>
            <a:r>
              <a:rPr lang="en-US" sz="1200" dirty="0">
                <a:solidFill>
                  <a:srgbClr val="374151"/>
                </a:solidFill>
                <a:latin typeface="Calibri" pitchFamily="34" charset="0"/>
                <a:ea typeface="Calibri" pitchFamily="34" charset="-122"/>
                <a:cs typeface="Calibri" pitchFamily="34" charset="-120"/>
              </a:rPr>
              <a:t>Outcome ∈ {Dropout, Enrolled, Graduate}</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(also re-coded to binary: Dropout vs Non-dropout for intervention)</a:t>
            </a:r>
            <a:endParaRPr lang="en-US" sz="1200" dirty="0"/>
          </a:p>
        </p:txBody>
      </p:sp>
      <p:sp>
        <p:nvSpPr>
          <p:cNvPr id="12" name="Shape 10"/>
          <p:cNvSpPr/>
          <p:nvPr/>
        </p:nvSpPr>
        <p:spPr>
          <a:xfrm>
            <a:off x="640080" y="3284622"/>
            <a:ext cx="10881360" cy="3207618"/>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13" name="Text 11"/>
          <p:cNvSpPr/>
          <p:nvPr/>
        </p:nvSpPr>
        <p:spPr>
          <a:xfrm>
            <a:off x="822960" y="3380875"/>
            <a:ext cx="1051560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Data dictionary — excerpt (from UCI variables table)</a:t>
            </a:r>
            <a:endParaRPr lang="en-US" sz="1400" dirty="0"/>
          </a:p>
        </p:txBody>
      </p:sp>
      <p:sp>
        <p:nvSpPr>
          <p:cNvPr id="14" name="Shape 12"/>
          <p:cNvSpPr/>
          <p:nvPr/>
        </p:nvSpPr>
        <p:spPr>
          <a:xfrm>
            <a:off x="822960" y="3681665"/>
            <a:ext cx="10515600" cy="374904"/>
          </a:xfrm>
          <a:prstGeom prst="rect">
            <a:avLst/>
          </a:prstGeom>
          <a:solidFill>
            <a:srgbClr val="F3F4F6"/>
          </a:solidFill>
          <a:ln w="12700">
            <a:solidFill>
              <a:srgbClr val="E5E7EB"/>
            </a:solidFill>
            <a:prstDash val="solid"/>
          </a:ln>
        </p:spPr>
        <p:txBody>
          <a:bodyPr/>
          <a:lstStyle/>
          <a:p>
            <a:endParaRPr lang="en-US"/>
          </a:p>
        </p:txBody>
      </p:sp>
      <p:sp>
        <p:nvSpPr>
          <p:cNvPr id="15" name="Text 13"/>
          <p:cNvSpPr/>
          <p:nvPr/>
        </p:nvSpPr>
        <p:spPr>
          <a:xfrm>
            <a:off x="932688" y="3754817"/>
            <a:ext cx="3776472" cy="228600"/>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Variable (example)</a:t>
            </a:r>
            <a:endParaRPr lang="en-US" sz="1100" dirty="0"/>
          </a:p>
        </p:txBody>
      </p:sp>
      <p:sp>
        <p:nvSpPr>
          <p:cNvPr id="16" name="Shape 14"/>
          <p:cNvSpPr/>
          <p:nvPr/>
        </p:nvSpPr>
        <p:spPr>
          <a:xfrm>
            <a:off x="4818888" y="3681665"/>
            <a:ext cx="0" cy="2624328"/>
          </a:xfrm>
          <a:prstGeom prst="line">
            <a:avLst/>
          </a:prstGeom>
          <a:noFill/>
          <a:ln w="12700">
            <a:solidFill>
              <a:srgbClr val="E5E7EB"/>
            </a:solidFill>
            <a:prstDash val="solid"/>
          </a:ln>
        </p:spPr>
        <p:txBody>
          <a:bodyPr/>
          <a:lstStyle/>
          <a:p>
            <a:endParaRPr lang="en-US"/>
          </a:p>
        </p:txBody>
      </p:sp>
      <p:sp>
        <p:nvSpPr>
          <p:cNvPr id="17" name="Text 15"/>
          <p:cNvSpPr/>
          <p:nvPr/>
        </p:nvSpPr>
        <p:spPr>
          <a:xfrm>
            <a:off x="4928616" y="3754817"/>
            <a:ext cx="2093976" cy="228600"/>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Type</a:t>
            </a:r>
            <a:endParaRPr lang="en-US" sz="1100" dirty="0"/>
          </a:p>
        </p:txBody>
      </p:sp>
      <p:sp>
        <p:nvSpPr>
          <p:cNvPr id="18" name="Shape 16"/>
          <p:cNvSpPr/>
          <p:nvPr/>
        </p:nvSpPr>
        <p:spPr>
          <a:xfrm>
            <a:off x="7132320" y="3681665"/>
            <a:ext cx="0" cy="2624328"/>
          </a:xfrm>
          <a:prstGeom prst="line">
            <a:avLst/>
          </a:prstGeom>
          <a:noFill/>
          <a:ln w="12700">
            <a:solidFill>
              <a:srgbClr val="E5E7EB"/>
            </a:solidFill>
            <a:prstDash val="solid"/>
          </a:ln>
        </p:spPr>
        <p:txBody>
          <a:bodyPr/>
          <a:lstStyle/>
          <a:p>
            <a:endParaRPr lang="en-US"/>
          </a:p>
        </p:txBody>
      </p:sp>
      <p:sp>
        <p:nvSpPr>
          <p:cNvPr id="19" name="Text 17"/>
          <p:cNvSpPr/>
          <p:nvPr/>
        </p:nvSpPr>
        <p:spPr>
          <a:xfrm>
            <a:off x="7242048" y="3754817"/>
            <a:ext cx="3986784" cy="228600"/>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Notes / Allowed values</a:t>
            </a:r>
            <a:endParaRPr lang="en-US" sz="1100" dirty="0"/>
          </a:p>
        </p:txBody>
      </p:sp>
      <p:sp>
        <p:nvSpPr>
          <p:cNvPr id="20" name="Shape 18"/>
          <p:cNvSpPr/>
          <p:nvPr/>
        </p:nvSpPr>
        <p:spPr>
          <a:xfrm>
            <a:off x="822960" y="4056569"/>
            <a:ext cx="10515600" cy="374904"/>
          </a:xfrm>
          <a:prstGeom prst="rect">
            <a:avLst/>
          </a:prstGeom>
          <a:solidFill>
            <a:srgbClr val="FFFFFF"/>
          </a:solidFill>
          <a:ln w="12700">
            <a:solidFill>
              <a:srgbClr val="E5E7EB"/>
            </a:solidFill>
            <a:prstDash val="solid"/>
          </a:ln>
        </p:spPr>
        <p:txBody>
          <a:bodyPr/>
          <a:lstStyle/>
          <a:p>
            <a:endParaRPr lang="en-US"/>
          </a:p>
        </p:txBody>
      </p:sp>
      <p:sp>
        <p:nvSpPr>
          <p:cNvPr id="21" name="Text 19"/>
          <p:cNvSpPr/>
          <p:nvPr/>
        </p:nvSpPr>
        <p:spPr>
          <a:xfrm>
            <a:off x="932688" y="4129721"/>
            <a:ext cx="3776472"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Marital status</a:t>
            </a:r>
            <a:endParaRPr lang="en-US" sz="1050" dirty="0"/>
          </a:p>
        </p:txBody>
      </p:sp>
      <p:sp>
        <p:nvSpPr>
          <p:cNvPr id="22" name="Text 20"/>
          <p:cNvSpPr/>
          <p:nvPr/>
        </p:nvSpPr>
        <p:spPr>
          <a:xfrm>
            <a:off x="4928616" y="4129721"/>
            <a:ext cx="2093976"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Integer</a:t>
            </a:r>
            <a:endParaRPr lang="en-US" sz="1050" dirty="0"/>
          </a:p>
        </p:txBody>
      </p:sp>
      <p:sp>
        <p:nvSpPr>
          <p:cNvPr id="23" name="Text 21"/>
          <p:cNvSpPr/>
          <p:nvPr/>
        </p:nvSpPr>
        <p:spPr>
          <a:xfrm>
            <a:off x="7242048" y="4129721"/>
            <a:ext cx="3986784"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1 single … 6 legally separated</a:t>
            </a:r>
            <a:endParaRPr lang="en-US" sz="1050" dirty="0"/>
          </a:p>
        </p:txBody>
      </p:sp>
      <p:sp>
        <p:nvSpPr>
          <p:cNvPr id="24" name="Shape 22"/>
          <p:cNvSpPr/>
          <p:nvPr/>
        </p:nvSpPr>
        <p:spPr>
          <a:xfrm>
            <a:off x="822960" y="4431473"/>
            <a:ext cx="10515600" cy="374904"/>
          </a:xfrm>
          <a:prstGeom prst="rect">
            <a:avLst/>
          </a:prstGeom>
          <a:solidFill>
            <a:srgbClr val="FAFAFA"/>
          </a:solidFill>
          <a:ln w="12700">
            <a:solidFill>
              <a:srgbClr val="E5E7EB"/>
            </a:solidFill>
            <a:prstDash val="solid"/>
          </a:ln>
        </p:spPr>
        <p:txBody>
          <a:bodyPr/>
          <a:lstStyle/>
          <a:p>
            <a:endParaRPr lang="en-US"/>
          </a:p>
        </p:txBody>
      </p:sp>
      <p:sp>
        <p:nvSpPr>
          <p:cNvPr id="25" name="Text 23"/>
          <p:cNvSpPr/>
          <p:nvPr/>
        </p:nvSpPr>
        <p:spPr>
          <a:xfrm>
            <a:off x="932688" y="4504625"/>
            <a:ext cx="3776472"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Application mode</a:t>
            </a:r>
            <a:endParaRPr lang="en-US" sz="1050" dirty="0"/>
          </a:p>
        </p:txBody>
      </p:sp>
      <p:sp>
        <p:nvSpPr>
          <p:cNvPr id="26" name="Text 24"/>
          <p:cNvSpPr/>
          <p:nvPr/>
        </p:nvSpPr>
        <p:spPr>
          <a:xfrm>
            <a:off x="4928616" y="4504625"/>
            <a:ext cx="2093976"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Integer</a:t>
            </a:r>
            <a:endParaRPr lang="en-US" sz="1050" dirty="0"/>
          </a:p>
        </p:txBody>
      </p:sp>
      <p:sp>
        <p:nvSpPr>
          <p:cNvPr id="27" name="Text 25"/>
          <p:cNvSpPr/>
          <p:nvPr/>
        </p:nvSpPr>
        <p:spPr>
          <a:xfrm>
            <a:off x="7242048" y="4504625"/>
            <a:ext cx="3986784"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Admission pathway code (see UCI table)</a:t>
            </a:r>
            <a:endParaRPr lang="en-US" sz="1050" dirty="0"/>
          </a:p>
        </p:txBody>
      </p:sp>
      <p:sp>
        <p:nvSpPr>
          <p:cNvPr id="28" name="Shape 26"/>
          <p:cNvSpPr/>
          <p:nvPr/>
        </p:nvSpPr>
        <p:spPr>
          <a:xfrm>
            <a:off x="822960" y="4806377"/>
            <a:ext cx="10515600" cy="374904"/>
          </a:xfrm>
          <a:prstGeom prst="rect">
            <a:avLst/>
          </a:prstGeom>
          <a:solidFill>
            <a:srgbClr val="FFFFFF"/>
          </a:solidFill>
          <a:ln w="12700">
            <a:solidFill>
              <a:srgbClr val="E5E7EB"/>
            </a:solidFill>
            <a:prstDash val="solid"/>
          </a:ln>
        </p:spPr>
        <p:txBody>
          <a:bodyPr/>
          <a:lstStyle/>
          <a:p>
            <a:endParaRPr lang="en-US"/>
          </a:p>
        </p:txBody>
      </p:sp>
      <p:sp>
        <p:nvSpPr>
          <p:cNvPr id="29" name="Text 27"/>
          <p:cNvSpPr/>
          <p:nvPr/>
        </p:nvSpPr>
        <p:spPr>
          <a:xfrm>
            <a:off x="932688" y="4879529"/>
            <a:ext cx="3776472"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Course</a:t>
            </a:r>
            <a:endParaRPr lang="en-US" sz="1050" dirty="0"/>
          </a:p>
        </p:txBody>
      </p:sp>
      <p:sp>
        <p:nvSpPr>
          <p:cNvPr id="30" name="Text 28"/>
          <p:cNvSpPr/>
          <p:nvPr/>
        </p:nvSpPr>
        <p:spPr>
          <a:xfrm>
            <a:off x="4928616" y="4879529"/>
            <a:ext cx="2093976"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Integer</a:t>
            </a:r>
            <a:endParaRPr lang="en-US" sz="1050" dirty="0"/>
          </a:p>
        </p:txBody>
      </p:sp>
      <p:sp>
        <p:nvSpPr>
          <p:cNvPr id="31" name="Text 29"/>
          <p:cNvSpPr/>
          <p:nvPr/>
        </p:nvSpPr>
        <p:spPr>
          <a:xfrm>
            <a:off x="7242048" y="4879529"/>
            <a:ext cx="3986784"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Program code (e.g., Nursing, Management, etc.)</a:t>
            </a:r>
            <a:endParaRPr lang="en-US" sz="1050" dirty="0"/>
          </a:p>
        </p:txBody>
      </p:sp>
      <p:sp>
        <p:nvSpPr>
          <p:cNvPr id="32" name="Shape 30"/>
          <p:cNvSpPr/>
          <p:nvPr/>
        </p:nvSpPr>
        <p:spPr>
          <a:xfrm>
            <a:off x="822960" y="5181281"/>
            <a:ext cx="10515600" cy="374904"/>
          </a:xfrm>
          <a:prstGeom prst="rect">
            <a:avLst/>
          </a:prstGeom>
          <a:solidFill>
            <a:srgbClr val="FAFAFA"/>
          </a:solidFill>
          <a:ln w="12700">
            <a:solidFill>
              <a:srgbClr val="E5E7EB"/>
            </a:solidFill>
            <a:prstDash val="solid"/>
          </a:ln>
        </p:spPr>
        <p:txBody>
          <a:bodyPr/>
          <a:lstStyle/>
          <a:p>
            <a:endParaRPr lang="en-US"/>
          </a:p>
        </p:txBody>
      </p:sp>
      <p:sp>
        <p:nvSpPr>
          <p:cNvPr id="33" name="Text 31"/>
          <p:cNvSpPr/>
          <p:nvPr/>
        </p:nvSpPr>
        <p:spPr>
          <a:xfrm>
            <a:off x="932688" y="5254433"/>
            <a:ext cx="3776472"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Daytime/evening attendance</a:t>
            </a:r>
            <a:endParaRPr lang="en-US" sz="1050" dirty="0"/>
          </a:p>
        </p:txBody>
      </p:sp>
      <p:sp>
        <p:nvSpPr>
          <p:cNvPr id="34" name="Text 32"/>
          <p:cNvSpPr/>
          <p:nvPr/>
        </p:nvSpPr>
        <p:spPr>
          <a:xfrm>
            <a:off x="4928616" y="5254433"/>
            <a:ext cx="2093976"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Integer</a:t>
            </a:r>
            <a:endParaRPr lang="en-US" sz="1050" dirty="0"/>
          </a:p>
        </p:txBody>
      </p:sp>
      <p:sp>
        <p:nvSpPr>
          <p:cNvPr id="35" name="Text 33"/>
          <p:cNvSpPr/>
          <p:nvPr/>
        </p:nvSpPr>
        <p:spPr>
          <a:xfrm>
            <a:off x="7242048" y="5254433"/>
            <a:ext cx="3986784"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1 daytime; 0 evening</a:t>
            </a:r>
            <a:endParaRPr lang="en-US" sz="1050" dirty="0"/>
          </a:p>
        </p:txBody>
      </p:sp>
      <p:sp>
        <p:nvSpPr>
          <p:cNvPr id="36" name="Shape 34"/>
          <p:cNvSpPr/>
          <p:nvPr/>
        </p:nvSpPr>
        <p:spPr>
          <a:xfrm>
            <a:off x="822960" y="5556185"/>
            <a:ext cx="10515600" cy="374904"/>
          </a:xfrm>
          <a:prstGeom prst="rect">
            <a:avLst/>
          </a:prstGeom>
          <a:solidFill>
            <a:srgbClr val="FFFFFF"/>
          </a:solidFill>
          <a:ln w="12700">
            <a:solidFill>
              <a:srgbClr val="E5E7EB"/>
            </a:solidFill>
            <a:prstDash val="solid"/>
          </a:ln>
        </p:spPr>
        <p:txBody>
          <a:bodyPr/>
          <a:lstStyle/>
          <a:p>
            <a:endParaRPr lang="en-US"/>
          </a:p>
        </p:txBody>
      </p:sp>
      <p:sp>
        <p:nvSpPr>
          <p:cNvPr id="37" name="Text 35"/>
          <p:cNvSpPr/>
          <p:nvPr/>
        </p:nvSpPr>
        <p:spPr>
          <a:xfrm>
            <a:off x="932688" y="5629337"/>
            <a:ext cx="3776472"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Previous qualification (grade)</a:t>
            </a:r>
            <a:endParaRPr lang="en-US" sz="1050" dirty="0"/>
          </a:p>
        </p:txBody>
      </p:sp>
      <p:sp>
        <p:nvSpPr>
          <p:cNvPr id="38" name="Text 36"/>
          <p:cNvSpPr/>
          <p:nvPr/>
        </p:nvSpPr>
        <p:spPr>
          <a:xfrm>
            <a:off x="4928616" y="5629337"/>
            <a:ext cx="2093976"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Continuous</a:t>
            </a:r>
            <a:endParaRPr lang="en-US" sz="1050" dirty="0"/>
          </a:p>
        </p:txBody>
      </p:sp>
      <p:sp>
        <p:nvSpPr>
          <p:cNvPr id="39" name="Text 37"/>
          <p:cNvSpPr/>
          <p:nvPr/>
        </p:nvSpPr>
        <p:spPr>
          <a:xfrm>
            <a:off x="7242048" y="5629337"/>
            <a:ext cx="3986784"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0–200</a:t>
            </a:r>
            <a:endParaRPr lang="en-US" sz="1050" dirty="0"/>
          </a:p>
        </p:txBody>
      </p:sp>
      <p:sp>
        <p:nvSpPr>
          <p:cNvPr id="40" name="Shape 38"/>
          <p:cNvSpPr/>
          <p:nvPr/>
        </p:nvSpPr>
        <p:spPr>
          <a:xfrm>
            <a:off x="822960" y="5931089"/>
            <a:ext cx="10515600" cy="374904"/>
          </a:xfrm>
          <a:prstGeom prst="rect">
            <a:avLst/>
          </a:prstGeom>
          <a:solidFill>
            <a:srgbClr val="FAFAFA"/>
          </a:solidFill>
          <a:ln w="12700">
            <a:solidFill>
              <a:srgbClr val="E5E7EB"/>
            </a:solidFill>
            <a:prstDash val="solid"/>
          </a:ln>
        </p:spPr>
        <p:txBody>
          <a:bodyPr/>
          <a:lstStyle/>
          <a:p>
            <a:endParaRPr lang="en-US"/>
          </a:p>
        </p:txBody>
      </p:sp>
      <p:sp>
        <p:nvSpPr>
          <p:cNvPr id="41" name="Text 39"/>
          <p:cNvSpPr/>
          <p:nvPr/>
        </p:nvSpPr>
        <p:spPr>
          <a:xfrm>
            <a:off x="932688" y="6004241"/>
            <a:ext cx="3776472"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Gender</a:t>
            </a:r>
            <a:endParaRPr lang="en-US" sz="1050" dirty="0"/>
          </a:p>
        </p:txBody>
      </p:sp>
      <p:sp>
        <p:nvSpPr>
          <p:cNvPr id="42" name="Text 40"/>
          <p:cNvSpPr/>
          <p:nvPr/>
        </p:nvSpPr>
        <p:spPr>
          <a:xfrm>
            <a:off x="4928616" y="6004241"/>
            <a:ext cx="2093976"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Integer</a:t>
            </a:r>
            <a:endParaRPr lang="en-US" sz="1050" dirty="0"/>
          </a:p>
        </p:txBody>
      </p:sp>
      <p:sp>
        <p:nvSpPr>
          <p:cNvPr id="43" name="Text 41"/>
          <p:cNvSpPr/>
          <p:nvPr/>
        </p:nvSpPr>
        <p:spPr>
          <a:xfrm>
            <a:off x="7242048" y="6004241"/>
            <a:ext cx="3986784" cy="22860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Binary-coded in dataset</a:t>
            </a:r>
            <a:endParaRPr lang="en-US" sz="1050" dirty="0"/>
          </a:p>
        </p:txBody>
      </p:sp>
      <p:sp>
        <p:nvSpPr>
          <p:cNvPr id="44" name="Shape 42"/>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45" name="Text 43"/>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
        <p:nvSpPr>
          <p:cNvPr id="48" name="Shape 5">
            <a:extLst>
              <a:ext uri="{FF2B5EF4-FFF2-40B4-BE49-F238E27FC236}">
                <a16:creationId xmlns:a16="http://schemas.microsoft.com/office/drawing/2014/main" id="{1969C1CD-8640-4729-8D00-9DF7F0311449}"/>
              </a:ext>
            </a:extLst>
          </p:cNvPr>
          <p:cNvSpPr/>
          <p:nvPr/>
        </p:nvSpPr>
        <p:spPr>
          <a:xfrm>
            <a:off x="640080" y="956949"/>
            <a:ext cx="73152" cy="2078182"/>
          </a:xfrm>
          <a:prstGeom prst="rect">
            <a:avLst/>
          </a:prstGeom>
          <a:solidFill>
            <a:srgbClr val="1F77B4"/>
          </a:solidFill>
          <a:ln w="12700">
            <a:solidFill>
              <a:srgbClr val="1F77B4"/>
            </a:solidFill>
            <a:prstDash val="solid"/>
          </a:ln>
        </p:spPr>
        <p:txBody>
          <a:bodyPr/>
          <a:lstStyle/>
          <a:p>
            <a:endParaRPr lang="en-US"/>
          </a:p>
        </p:txBody>
      </p:sp>
      <p:sp>
        <p:nvSpPr>
          <p:cNvPr id="49" name="Shape 9">
            <a:extLst>
              <a:ext uri="{FF2B5EF4-FFF2-40B4-BE49-F238E27FC236}">
                <a16:creationId xmlns:a16="http://schemas.microsoft.com/office/drawing/2014/main" id="{6474AC7A-9458-8388-6C8E-BA28841163F4}"/>
              </a:ext>
            </a:extLst>
          </p:cNvPr>
          <p:cNvSpPr/>
          <p:nvPr/>
        </p:nvSpPr>
        <p:spPr>
          <a:xfrm>
            <a:off x="6273265" y="918446"/>
            <a:ext cx="73152" cy="2078182"/>
          </a:xfrm>
          <a:prstGeom prst="rect">
            <a:avLst/>
          </a:prstGeom>
          <a:solidFill>
            <a:srgbClr val="0E7C7B"/>
          </a:solidFill>
          <a:ln w="12700">
            <a:solidFill>
              <a:srgbClr val="0E7C7B"/>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3</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Preprocessing, Applied EDA &amp; Feature Engineering — Pipeline</a:t>
            </a:r>
            <a:endParaRPr lang="en-US" sz="2000" dirty="0"/>
          </a:p>
        </p:txBody>
      </p:sp>
      <p:sp>
        <p:nvSpPr>
          <p:cNvPr id="6" name="Text 4"/>
          <p:cNvSpPr/>
          <p:nvPr/>
        </p:nvSpPr>
        <p:spPr>
          <a:xfrm>
            <a:off x="822960" y="1143000"/>
            <a:ext cx="1051560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Preprocessing workflow (reproducible via sklearn Pipelines)</a:t>
            </a:r>
            <a:endParaRPr lang="en-US" sz="1400" dirty="0"/>
          </a:p>
        </p:txBody>
      </p:sp>
      <p:sp>
        <p:nvSpPr>
          <p:cNvPr id="7" name="Shape 5"/>
          <p:cNvSpPr/>
          <p:nvPr/>
        </p:nvSpPr>
        <p:spPr>
          <a:xfrm>
            <a:off x="868680" y="1691640"/>
            <a:ext cx="1993392" cy="868680"/>
          </a:xfrm>
          <a:prstGeom prst="roundRect">
            <a:avLst/>
          </a:prstGeom>
          <a:solidFill>
            <a:srgbClr val="EAF2FF"/>
          </a:solidFill>
          <a:ln w="12700">
            <a:solidFill>
              <a:srgbClr val="E5E7EB"/>
            </a:solidFill>
            <a:prstDash val="solid"/>
          </a:ln>
        </p:spPr>
        <p:txBody>
          <a:bodyPr/>
          <a:lstStyle/>
          <a:p>
            <a:endParaRPr lang="en-US"/>
          </a:p>
        </p:txBody>
      </p:sp>
      <p:sp>
        <p:nvSpPr>
          <p:cNvPr id="8" name="Shape 6"/>
          <p:cNvSpPr/>
          <p:nvPr/>
        </p:nvSpPr>
        <p:spPr>
          <a:xfrm>
            <a:off x="868680" y="1691640"/>
            <a:ext cx="73152" cy="868680"/>
          </a:xfrm>
          <a:prstGeom prst="rect">
            <a:avLst/>
          </a:prstGeom>
          <a:solidFill>
            <a:srgbClr val="1F77B4"/>
          </a:solidFill>
          <a:ln w="12700">
            <a:solidFill>
              <a:srgbClr val="1F77B4"/>
            </a:solidFill>
            <a:prstDash val="solid"/>
          </a:ln>
        </p:spPr>
        <p:txBody>
          <a:bodyPr/>
          <a:lstStyle/>
          <a:p>
            <a:endParaRPr lang="en-US"/>
          </a:p>
        </p:txBody>
      </p:sp>
      <p:sp>
        <p:nvSpPr>
          <p:cNvPr id="9" name="Text 7"/>
          <p:cNvSpPr/>
          <p:nvPr/>
        </p:nvSpPr>
        <p:spPr>
          <a:xfrm>
            <a:off x="960120" y="1783080"/>
            <a:ext cx="1810512" cy="685800"/>
          </a:xfrm>
          <a:prstGeom prst="rect">
            <a:avLst/>
          </a:prstGeom>
          <a:noFill/>
          <a:ln/>
        </p:spPr>
        <p:txBody>
          <a:bodyPr wrap="square" rtlCol="0" anchor="ctr"/>
          <a:lstStyle/>
          <a:p>
            <a:pPr marL="0" indent="0" algn="ctr">
              <a:buNone/>
            </a:pPr>
            <a:r>
              <a:rPr lang="en-US" sz="1150" dirty="0">
                <a:solidFill>
                  <a:srgbClr val="111827"/>
                </a:solidFill>
                <a:latin typeface="Calibri" pitchFamily="34" charset="0"/>
                <a:ea typeface="Calibri" pitchFamily="34" charset="-122"/>
                <a:cs typeface="Calibri" pitchFamily="34" charset="-120"/>
              </a:rPr>
              <a:t>Train/test split</a:t>
            </a:r>
            <a:endParaRPr lang="en-US" sz="1150" dirty="0"/>
          </a:p>
          <a:p>
            <a:pPr marL="0" indent="0" algn="ctr">
              <a:buNone/>
            </a:pPr>
            <a:r>
              <a:rPr lang="en-US" sz="1150" dirty="0">
                <a:solidFill>
                  <a:srgbClr val="111827"/>
                </a:solidFill>
                <a:latin typeface="Calibri" pitchFamily="34" charset="0"/>
                <a:ea typeface="Calibri" pitchFamily="34" charset="-122"/>
                <a:cs typeface="Calibri" pitchFamily="34" charset="-120"/>
              </a:rPr>
              <a:t>(stratified)</a:t>
            </a:r>
            <a:endParaRPr lang="en-US" sz="1150" dirty="0"/>
          </a:p>
        </p:txBody>
      </p:sp>
      <p:sp>
        <p:nvSpPr>
          <p:cNvPr id="10" name="Shape 8"/>
          <p:cNvSpPr/>
          <p:nvPr/>
        </p:nvSpPr>
        <p:spPr>
          <a:xfrm>
            <a:off x="2880360" y="1993392"/>
            <a:ext cx="219456" cy="274320"/>
          </a:xfrm>
          <a:prstGeom prst="rightArrow">
            <a:avLst/>
          </a:prstGeom>
          <a:solidFill>
            <a:srgbClr val="6B7280"/>
          </a:solidFill>
          <a:ln w="12700">
            <a:solidFill>
              <a:srgbClr val="6B7280"/>
            </a:solidFill>
            <a:prstDash val="solid"/>
          </a:ln>
        </p:spPr>
        <p:txBody>
          <a:bodyPr/>
          <a:lstStyle/>
          <a:p>
            <a:endParaRPr lang="en-US"/>
          </a:p>
        </p:txBody>
      </p:sp>
      <p:sp>
        <p:nvSpPr>
          <p:cNvPr id="11" name="Shape 9"/>
          <p:cNvSpPr/>
          <p:nvPr/>
        </p:nvSpPr>
        <p:spPr>
          <a:xfrm>
            <a:off x="3118104" y="1691640"/>
            <a:ext cx="1993392" cy="868680"/>
          </a:xfrm>
          <a:prstGeom prst="roundRect">
            <a:avLst/>
          </a:prstGeom>
          <a:solidFill>
            <a:srgbClr val="FFF4E5"/>
          </a:solidFill>
          <a:ln w="12700">
            <a:solidFill>
              <a:srgbClr val="E5E7EB"/>
            </a:solidFill>
            <a:prstDash val="solid"/>
          </a:ln>
        </p:spPr>
        <p:txBody>
          <a:bodyPr/>
          <a:lstStyle/>
          <a:p>
            <a:endParaRPr lang="en-US"/>
          </a:p>
        </p:txBody>
      </p:sp>
      <p:sp>
        <p:nvSpPr>
          <p:cNvPr id="12" name="Shape 10"/>
          <p:cNvSpPr/>
          <p:nvPr/>
        </p:nvSpPr>
        <p:spPr>
          <a:xfrm>
            <a:off x="3118104" y="1691640"/>
            <a:ext cx="73152" cy="868680"/>
          </a:xfrm>
          <a:prstGeom prst="rect">
            <a:avLst/>
          </a:prstGeom>
          <a:solidFill>
            <a:srgbClr val="F28E2B"/>
          </a:solidFill>
          <a:ln w="12700">
            <a:solidFill>
              <a:srgbClr val="F28E2B"/>
            </a:solidFill>
            <a:prstDash val="solid"/>
          </a:ln>
        </p:spPr>
        <p:txBody>
          <a:bodyPr/>
          <a:lstStyle/>
          <a:p>
            <a:endParaRPr lang="en-US"/>
          </a:p>
        </p:txBody>
      </p:sp>
      <p:sp>
        <p:nvSpPr>
          <p:cNvPr id="13" name="Text 11"/>
          <p:cNvSpPr/>
          <p:nvPr/>
        </p:nvSpPr>
        <p:spPr>
          <a:xfrm>
            <a:off x="3209544" y="1783080"/>
            <a:ext cx="1810512" cy="685800"/>
          </a:xfrm>
          <a:prstGeom prst="rect">
            <a:avLst/>
          </a:prstGeom>
          <a:noFill/>
          <a:ln/>
        </p:spPr>
        <p:txBody>
          <a:bodyPr wrap="square" rtlCol="0" anchor="ctr"/>
          <a:lstStyle/>
          <a:p>
            <a:pPr marL="0" indent="0" algn="ctr">
              <a:buNone/>
            </a:pPr>
            <a:r>
              <a:rPr lang="en-US" sz="1150" dirty="0">
                <a:solidFill>
                  <a:srgbClr val="111827"/>
                </a:solidFill>
                <a:latin typeface="Calibri" pitchFamily="34" charset="0"/>
                <a:ea typeface="Calibri" pitchFamily="34" charset="-122"/>
                <a:cs typeface="Calibri" pitchFamily="34" charset="-120"/>
              </a:rPr>
              <a:t>Target prep</a:t>
            </a:r>
            <a:endParaRPr lang="en-US" sz="1150" dirty="0"/>
          </a:p>
          <a:p>
            <a:pPr marL="0" indent="0" algn="ctr">
              <a:buNone/>
            </a:pPr>
            <a:r>
              <a:rPr lang="en-US" sz="1150" dirty="0">
                <a:solidFill>
                  <a:srgbClr val="111827"/>
                </a:solidFill>
                <a:latin typeface="Calibri" pitchFamily="34" charset="0"/>
                <a:ea typeface="Calibri" pitchFamily="34" charset="-122"/>
                <a:cs typeface="Calibri" pitchFamily="34" charset="-120"/>
              </a:rPr>
              <a:t>(binary for intervention)</a:t>
            </a:r>
            <a:endParaRPr lang="en-US" sz="1150" dirty="0"/>
          </a:p>
        </p:txBody>
      </p:sp>
      <p:sp>
        <p:nvSpPr>
          <p:cNvPr id="14" name="Shape 12"/>
          <p:cNvSpPr/>
          <p:nvPr/>
        </p:nvSpPr>
        <p:spPr>
          <a:xfrm>
            <a:off x="5129784" y="1993392"/>
            <a:ext cx="219456" cy="274320"/>
          </a:xfrm>
          <a:prstGeom prst="rightArrow">
            <a:avLst/>
          </a:prstGeom>
          <a:solidFill>
            <a:srgbClr val="6B7280"/>
          </a:solidFill>
          <a:ln w="12700">
            <a:solidFill>
              <a:srgbClr val="6B7280"/>
            </a:solidFill>
            <a:prstDash val="solid"/>
          </a:ln>
        </p:spPr>
        <p:txBody>
          <a:bodyPr/>
          <a:lstStyle/>
          <a:p>
            <a:endParaRPr lang="en-US"/>
          </a:p>
        </p:txBody>
      </p:sp>
      <p:sp>
        <p:nvSpPr>
          <p:cNvPr id="15" name="Shape 13"/>
          <p:cNvSpPr/>
          <p:nvPr/>
        </p:nvSpPr>
        <p:spPr>
          <a:xfrm>
            <a:off x="5367528" y="1691640"/>
            <a:ext cx="1993392" cy="868680"/>
          </a:xfrm>
          <a:prstGeom prst="roundRect">
            <a:avLst/>
          </a:prstGeom>
          <a:solidFill>
            <a:srgbClr val="F0FDFA"/>
          </a:solidFill>
          <a:ln w="12700">
            <a:solidFill>
              <a:srgbClr val="E5E7EB"/>
            </a:solidFill>
            <a:prstDash val="solid"/>
          </a:ln>
        </p:spPr>
        <p:txBody>
          <a:bodyPr/>
          <a:lstStyle/>
          <a:p>
            <a:endParaRPr lang="en-US"/>
          </a:p>
        </p:txBody>
      </p:sp>
      <p:sp>
        <p:nvSpPr>
          <p:cNvPr id="16" name="Shape 14"/>
          <p:cNvSpPr/>
          <p:nvPr/>
        </p:nvSpPr>
        <p:spPr>
          <a:xfrm>
            <a:off x="5367528" y="1691640"/>
            <a:ext cx="73152" cy="868680"/>
          </a:xfrm>
          <a:prstGeom prst="rect">
            <a:avLst/>
          </a:prstGeom>
          <a:solidFill>
            <a:srgbClr val="0E7C7B"/>
          </a:solidFill>
          <a:ln w="12700">
            <a:solidFill>
              <a:srgbClr val="0E7C7B"/>
            </a:solidFill>
            <a:prstDash val="solid"/>
          </a:ln>
        </p:spPr>
        <p:txBody>
          <a:bodyPr/>
          <a:lstStyle/>
          <a:p>
            <a:endParaRPr lang="en-US"/>
          </a:p>
        </p:txBody>
      </p:sp>
      <p:sp>
        <p:nvSpPr>
          <p:cNvPr id="17" name="Text 15"/>
          <p:cNvSpPr/>
          <p:nvPr/>
        </p:nvSpPr>
        <p:spPr>
          <a:xfrm>
            <a:off x="5458968" y="1783080"/>
            <a:ext cx="1810512" cy="685800"/>
          </a:xfrm>
          <a:prstGeom prst="rect">
            <a:avLst/>
          </a:prstGeom>
          <a:noFill/>
          <a:ln/>
        </p:spPr>
        <p:txBody>
          <a:bodyPr wrap="square" rtlCol="0" anchor="ctr"/>
          <a:lstStyle/>
          <a:p>
            <a:pPr marL="0" indent="0" algn="ctr">
              <a:buNone/>
            </a:pPr>
            <a:r>
              <a:rPr lang="en-US" sz="1150" dirty="0">
                <a:solidFill>
                  <a:srgbClr val="111827"/>
                </a:solidFill>
                <a:latin typeface="Calibri" pitchFamily="34" charset="0"/>
                <a:ea typeface="Calibri" pitchFamily="34" charset="-122"/>
                <a:cs typeface="Calibri" pitchFamily="34" charset="-120"/>
              </a:rPr>
              <a:t>Impute (robustness)</a:t>
            </a:r>
            <a:endParaRPr lang="en-US" sz="1150" dirty="0"/>
          </a:p>
          <a:p>
            <a:pPr marL="0" indent="0" algn="ctr">
              <a:buNone/>
            </a:pPr>
            <a:r>
              <a:rPr lang="en-US" sz="1150" dirty="0">
                <a:solidFill>
                  <a:srgbClr val="111827"/>
                </a:solidFill>
                <a:latin typeface="Calibri" pitchFamily="34" charset="0"/>
                <a:ea typeface="Calibri" pitchFamily="34" charset="-122"/>
                <a:cs typeface="Calibri" pitchFamily="34" charset="-120"/>
              </a:rPr>
              <a:t>median / mode</a:t>
            </a:r>
            <a:endParaRPr lang="en-US" sz="1150" dirty="0"/>
          </a:p>
        </p:txBody>
      </p:sp>
      <p:sp>
        <p:nvSpPr>
          <p:cNvPr id="18" name="Shape 16"/>
          <p:cNvSpPr/>
          <p:nvPr/>
        </p:nvSpPr>
        <p:spPr>
          <a:xfrm>
            <a:off x="7379208" y="1993392"/>
            <a:ext cx="219456" cy="274320"/>
          </a:xfrm>
          <a:prstGeom prst="rightArrow">
            <a:avLst/>
          </a:prstGeom>
          <a:solidFill>
            <a:srgbClr val="6B7280"/>
          </a:solidFill>
          <a:ln w="12700">
            <a:solidFill>
              <a:srgbClr val="6B7280"/>
            </a:solidFill>
            <a:prstDash val="solid"/>
          </a:ln>
        </p:spPr>
        <p:txBody>
          <a:bodyPr/>
          <a:lstStyle/>
          <a:p>
            <a:endParaRPr lang="en-US"/>
          </a:p>
        </p:txBody>
      </p:sp>
      <p:sp>
        <p:nvSpPr>
          <p:cNvPr id="19" name="Shape 17"/>
          <p:cNvSpPr/>
          <p:nvPr/>
        </p:nvSpPr>
        <p:spPr>
          <a:xfrm>
            <a:off x="7616952" y="1691640"/>
            <a:ext cx="1993392" cy="868680"/>
          </a:xfrm>
          <a:prstGeom prst="roundRect">
            <a:avLst/>
          </a:prstGeom>
          <a:solidFill>
            <a:srgbClr val="F3F4F6"/>
          </a:solidFill>
          <a:ln w="12700">
            <a:solidFill>
              <a:srgbClr val="E5E7EB"/>
            </a:solidFill>
            <a:prstDash val="solid"/>
          </a:ln>
        </p:spPr>
        <p:txBody>
          <a:bodyPr/>
          <a:lstStyle/>
          <a:p>
            <a:endParaRPr lang="en-US"/>
          </a:p>
        </p:txBody>
      </p:sp>
      <p:sp>
        <p:nvSpPr>
          <p:cNvPr id="20" name="Shape 18"/>
          <p:cNvSpPr/>
          <p:nvPr/>
        </p:nvSpPr>
        <p:spPr>
          <a:xfrm>
            <a:off x="7616952" y="1691640"/>
            <a:ext cx="73152" cy="868680"/>
          </a:xfrm>
          <a:prstGeom prst="rect">
            <a:avLst/>
          </a:prstGeom>
          <a:solidFill>
            <a:srgbClr val="374151"/>
          </a:solidFill>
          <a:ln w="12700">
            <a:solidFill>
              <a:srgbClr val="374151"/>
            </a:solidFill>
            <a:prstDash val="solid"/>
          </a:ln>
        </p:spPr>
        <p:txBody>
          <a:bodyPr/>
          <a:lstStyle/>
          <a:p>
            <a:endParaRPr lang="en-US"/>
          </a:p>
        </p:txBody>
      </p:sp>
      <p:sp>
        <p:nvSpPr>
          <p:cNvPr id="21" name="Text 19"/>
          <p:cNvSpPr/>
          <p:nvPr/>
        </p:nvSpPr>
        <p:spPr>
          <a:xfrm>
            <a:off x="7708392" y="1783080"/>
            <a:ext cx="1810512" cy="685800"/>
          </a:xfrm>
          <a:prstGeom prst="rect">
            <a:avLst/>
          </a:prstGeom>
          <a:noFill/>
          <a:ln/>
        </p:spPr>
        <p:txBody>
          <a:bodyPr wrap="square" rtlCol="0" anchor="ctr"/>
          <a:lstStyle/>
          <a:p>
            <a:pPr marL="0" indent="0" algn="ctr">
              <a:buNone/>
            </a:pPr>
            <a:r>
              <a:rPr lang="en-US" sz="1150" dirty="0">
                <a:solidFill>
                  <a:srgbClr val="111827"/>
                </a:solidFill>
                <a:latin typeface="Calibri" pitchFamily="34" charset="0"/>
                <a:ea typeface="Calibri" pitchFamily="34" charset="-122"/>
                <a:cs typeface="Calibri" pitchFamily="34" charset="-120"/>
              </a:rPr>
              <a:t>Encode categorical</a:t>
            </a:r>
            <a:endParaRPr lang="en-US" sz="1150" dirty="0"/>
          </a:p>
          <a:p>
            <a:pPr marL="0" indent="0" algn="ctr">
              <a:buNone/>
            </a:pPr>
            <a:r>
              <a:rPr lang="en-US" sz="1150" dirty="0">
                <a:solidFill>
                  <a:srgbClr val="111827"/>
                </a:solidFill>
                <a:latin typeface="Calibri" pitchFamily="34" charset="0"/>
                <a:ea typeface="Calibri" pitchFamily="34" charset="-122"/>
                <a:cs typeface="Calibri" pitchFamily="34" charset="-120"/>
              </a:rPr>
              <a:t>(OneHot)</a:t>
            </a:r>
            <a:endParaRPr lang="en-US" sz="1150" dirty="0"/>
          </a:p>
        </p:txBody>
      </p:sp>
      <p:sp>
        <p:nvSpPr>
          <p:cNvPr id="22" name="Shape 20"/>
          <p:cNvSpPr/>
          <p:nvPr/>
        </p:nvSpPr>
        <p:spPr>
          <a:xfrm>
            <a:off x="9628632" y="1993392"/>
            <a:ext cx="219456" cy="274320"/>
          </a:xfrm>
          <a:prstGeom prst="rightArrow">
            <a:avLst/>
          </a:prstGeom>
          <a:solidFill>
            <a:srgbClr val="6B7280"/>
          </a:solidFill>
          <a:ln w="12700">
            <a:solidFill>
              <a:srgbClr val="6B7280"/>
            </a:solidFill>
            <a:prstDash val="solid"/>
          </a:ln>
        </p:spPr>
        <p:txBody>
          <a:bodyPr/>
          <a:lstStyle/>
          <a:p>
            <a:endParaRPr lang="en-US"/>
          </a:p>
        </p:txBody>
      </p:sp>
      <p:sp>
        <p:nvSpPr>
          <p:cNvPr id="23" name="Shape 21"/>
          <p:cNvSpPr/>
          <p:nvPr/>
        </p:nvSpPr>
        <p:spPr>
          <a:xfrm>
            <a:off x="9866376" y="1691640"/>
            <a:ext cx="1993392" cy="868680"/>
          </a:xfrm>
          <a:prstGeom prst="roundRect">
            <a:avLst/>
          </a:prstGeom>
          <a:solidFill>
            <a:srgbClr val="F3F4F6"/>
          </a:solidFill>
          <a:ln w="12700">
            <a:solidFill>
              <a:srgbClr val="E5E7EB"/>
            </a:solidFill>
            <a:prstDash val="solid"/>
          </a:ln>
        </p:spPr>
        <p:txBody>
          <a:bodyPr/>
          <a:lstStyle/>
          <a:p>
            <a:endParaRPr lang="en-US"/>
          </a:p>
        </p:txBody>
      </p:sp>
      <p:sp>
        <p:nvSpPr>
          <p:cNvPr id="24" name="Shape 22"/>
          <p:cNvSpPr/>
          <p:nvPr/>
        </p:nvSpPr>
        <p:spPr>
          <a:xfrm>
            <a:off x="9866376" y="1691640"/>
            <a:ext cx="73152" cy="868680"/>
          </a:xfrm>
          <a:prstGeom prst="rect">
            <a:avLst/>
          </a:prstGeom>
          <a:solidFill>
            <a:srgbClr val="374151"/>
          </a:solidFill>
          <a:ln w="12700">
            <a:solidFill>
              <a:srgbClr val="374151"/>
            </a:solidFill>
            <a:prstDash val="solid"/>
          </a:ln>
        </p:spPr>
        <p:txBody>
          <a:bodyPr/>
          <a:lstStyle/>
          <a:p>
            <a:endParaRPr lang="en-US"/>
          </a:p>
        </p:txBody>
      </p:sp>
      <p:sp>
        <p:nvSpPr>
          <p:cNvPr id="25" name="Text 23"/>
          <p:cNvSpPr/>
          <p:nvPr/>
        </p:nvSpPr>
        <p:spPr>
          <a:xfrm>
            <a:off x="9957816" y="1783080"/>
            <a:ext cx="1810512" cy="685800"/>
          </a:xfrm>
          <a:prstGeom prst="rect">
            <a:avLst/>
          </a:prstGeom>
          <a:noFill/>
          <a:ln/>
        </p:spPr>
        <p:txBody>
          <a:bodyPr wrap="square" rtlCol="0" anchor="ctr"/>
          <a:lstStyle/>
          <a:p>
            <a:pPr marL="0" indent="0" algn="ctr">
              <a:buNone/>
            </a:pPr>
            <a:r>
              <a:rPr lang="en-US" sz="1150" dirty="0">
                <a:solidFill>
                  <a:srgbClr val="111827"/>
                </a:solidFill>
                <a:latin typeface="Calibri" pitchFamily="34" charset="0"/>
                <a:ea typeface="Calibri" pitchFamily="34" charset="-122"/>
                <a:cs typeface="Calibri" pitchFamily="34" charset="-120"/>
              </a:rPr>
              <a:t>Scale numeric</a:t>
            </a:r>
            <a:endParaRPr lang="en-US" sz="1150" dirty="0"/>
          </a:p>
          <a:p>
            <a:pPr marL="0" indent="0" algn="ctr">
              <a:buNone/>
            </a:pPr>
            <a:r>
              <a:rPr lang="en-US" sz="1150" dirty="0">
                <a:solidFill>
                  <a:srgbClr val="111827"/>
                </a:solidFill>
                <a:latin typeface="Calibri" pitchFamily="34" charset="0"/>
                <a:ea typeface="Calibri" pitchFamily="34" charset="-122"/>
                <a:cs typeface="Calibri" pitchFamily="34" charset="-120"/>
              </a:rPr>
              <a:t>(StandardScaler)</a:t>
            </a:r>
            <a:endParaRPr lang="en-US" sz="1150" dirty="0"/>
          </a:p>
        </p:txBody>
      </p:sp>
      <p:sp>
        <p:nvSpPr>
          <p:cNvPr id="26" name="Shape 24"/>
          <p:cNvSpPr/>
          <p:nvPr/>
        </p:nvSpPr>
        <p:spPr>
          <a:xfrm>
            <a:off x="640080" y="3679256"/>
            <a:ext cx="5440680" cy="2194560"/>
          </a:xfrm>
          <a:prstGeom prst="roundRect">
            <a:avLst/>
          </a:prstGeom>
          <a:solidFill>
            <a:srgbClr val="FFFFFF"/>
          </a:solidFill>
          <a:ln w="12700">
            <a:solidFill>
              <a:schemeClr val="accent1"/>
            </a:solidFill>
            <a:prstDash val="solid"/>
          </a:ln>
          <a:effectLst>
            <a:outerShdw blurRad="25400" dist="19050" dir="2700000" algn="bl" rotWithShape="0">
              <a:srgbClr val="000000">
                <a:alpha val="14000"/>
              </a:srgbClr>
            </a:outerShdw>
          </a:effectLst>
        </p:spPr>
        <p:txBody>
          <a:bodyPr/>
          <a:lstStyle/>
          <a:p>
            <a:endParaRPr lang="en-US"/>
          </a:p>
        </p:txBody>
      </p:sp>
      <p:sp>
        <p:nvSpPr>
          <p:cNvPr id="27" name="Shape 25"/>
          <p:cNvSpPr/>
          <p:nvPr/>
        </p:nvSpPr>
        <p:spPr>
          <a:xfrm>
            <a:off x="640080" y="3679256"/>
            <a:ext cx="73152" cy="2194560"/>
          </a:xfrm>
          <a:prstGeom prst="rect">
            <a:avLst/>
          </a:prstGeom>
          <a:solidFill>
            <a:srgbClr val="1F77B4"/>
          </a:solidFill>
          <a:ln w="12700">
            <a:solidFill>
              <a:srgbClr val="1F77B4"/>
            </a:solidFill>
            <a:prstDash val="solid"/>
          </a:ln>
        </p:spPr>
        <p:txBody>
          <a:bodyPr/>
          <a:lstStyle/>
          <a:p>
            <a:endParaRPr lang="en-US"/>
          </a:p>
        </p:txBody>
      </p:sp>
      <p:sp>
        <p:nvSpPr>
          <p:cNvPr id="28" name="Text 26"/>
          <p:cNvSpPr/>
          <p:nvPr/>
        </p:nvSpPr>
        <p:spPr>
          <a:xfrm>
            <a:off x="804672" y="3843848"/>
            <a:ext cx="511149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Data cleaning &amp; safeguards</a:t>
            </a:r>
            <a:endParaRPr lang="en-US" sz="1400" dirty="0"/>
          </a:p>
        </p:txBody>
      </p:sp>
      <p:sp>
        <p:nvSpPr>
          <p:cNvPr id="29" name="Text 27"/>
          <p:cNvSpPr/>
          <p:nvPr/>
        </p:nvSpPr>
        <p:spPr>
          <a:xfrm>
            <a:off x="804672" y="4182176"/>
            <a:ext cx="5111496" cy="155448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Checked schema, dtypes, and basic integrity (duplicates/outliers).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Class imbalance acknowledged; metrics selected accordingly.</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All transforms applied consistently across CV folds via pipelines.</a:t>
            </a:r>
            <a:endParaRPr lang="en-US" sz="1200" dirty="0"/>
          </a:p>
        </p:txBody>
      </p:sp>
      <p:sp>
        <p:nvSpPr>
          <p:cNvPr id="30" name="Shape 28"/>
          <p:cNvSpPr/>
          <p:nvPr/>
        </p:nvSpPr>
        <p:spPr>
          <a:xfrm>
            <a:off x="6263640" y="3679256"/>
            <a:ext cx="5257800" cy="2194560"/>
          </a:xfrm>
          <a:prstGeom prst="roundRect">
            <a:avLst/>
          </a:prstGeom>
          <a:solidFill>
            <a:srgbClr val="FFFFFF"/>
          </a:solidFill>
          <a:ln w="12700">
            <a:solidFill>
              <a:schemeClr val="accent6">
                <a:lumMod val="50000"/>
              </a:schemeClr>
            </a:solidFill>
            <a:prstDash val="solid"/>
          </a:ln>
          <a:effectLst>
            <a:outerShdw blurRad="25400" dist="19050" dir="2700000" algn="bl" rotWithShape="0">
              <a:srgbClr val="000000">
                <a:alpha val="14000"/>
              </a:srgbClr>
            </a:outerShdw>
          </a:effectLst>
        </p:spPr>
        <p:txBody>
          <a:bodyPr/>
          <a:lstStyle/>
          <a:p>
            <a:endParaRPr lang="en-US"/>
          </a:p>
        </p:txBody>
      </p:sp>
      <p:sp>
        <p:nvSpPr>
          <p:cNvPr id="31" name="Shape 29"/>
          <p:cNvSpPr/>
          <p:nvPr/>
        </p:nvSpPr>
        <p:spPr>
          <a:xfrm>
            <a:off x="6263640" y="3679256"/>
            <a:ext cx="73152" cy="2194560"/>
          </a:xfrm>
          <a:prstGeom prst="rect">
            <a:avLst/>
          </a:prstGeom>
          <a:solidFill>
            <a:srgbClr val="0E7C7B"/>
          </a:solidFill>
          <a:ln w="12700">
            <a:solidFill>
              <a:srgbClr val="0E7C7B"/>
            </a:solidFill>
            <a:prstDash val="solid"/>
          </a:ln>
        </p:spPr>
        <p:txBody>
          <a:bodyPr/>
          <a:lstStyle/>
          <a:p>
            <a:endParaRPr lang="en-US"/>
          </a:p>
        </p:txBody>
      </p:sp>
      <p:sp>
        <p:nvSpPr>
          <p:cNvPr id="32" name="Text 30"/>
          <p:cNvSpPr/>
          <p:nvPr/>
        </p:nvSpPr>
        <p:spPr>
          <a:xfrm>
            <a:off x="6428232" y="3843848"/>
            <a:ext cx="492861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Reproducibility</a:t>
            </a:r>
            <a:endParaRPr lang="en-US" sz="1400" dirty="0"/>
          </a:p>
        </p:txBody>
      </p:sp>
      <p:sp>
        <p:nvSpPr>
          <p:cNvPr id="33" name="Text 31"/>
          <p:cNvSpPr/>
          <p:nvPr/>
        </p:nvSpPr>
        <p:spPr>
          <a:xfrm>
            <a:off x="6428232" y="4182176"/>
            <a:ext cx="4928616" cy="155448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Fixed random seed for splits and model training.</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Saved key artifacts (metrics tables, model joblib).</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Parameter grids tracked for transparent tuning.</a:t>
            </a:r>
            <a:endParaRPr lang="en-US" sz="1200" dirty="0"/>
          </a:p>
        </p:txBody>
      </p:sp>
      <p:sp>
        <p:nvSpPr>
          <p:cNvPr id="34" name="Shape 32"/>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35" name="Text 33"/>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3</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Applied EDA — What We Checked &amp; Why It Matters</a:t>
            </a:r>
            <a:endParaRPr lang="en-US" sz="2000" dirty="0"/>
          </a:p>
        </p:txBody>
      </p:sp>
      <p:sp>
        <p:nvSpPr>
          <p:cNvPr id="6" name="Shape 4"/>
          <p:cNvSpPr/>
          <p:nvPr/>
        </p:nvSpPr>
        <p:spPr>
          <a:xfrm>
            <a:off x="640080" y="960120"/>
            <a:ext cx="10881360" cy="534924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7" name="Text 5"/>
          <p:cNvSpPr/>
          <p:nvPr/>
        </p:nvSpPr>
        <p:spPr>
          <a:xfrm>
            <a:off x="822960" y="1537634"/>
            <a:ext cx="1051560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EDA deliverables produced in the notebook</a:t>
            </a:r>
            <a:endParaRPr lang="en-US" sz="1400" dirty="0"/>
          </a:p>
        </p:txBody>
      </p:sp>
      <p:sp>
        <p:nvSpPr>
          <p:cNvPr id="8" name="Shape 6"/>
          <p:cNvSpPr/>
          <p:nvPr/>
        </p:nvSpPr>
        <p:spPr>
          <a:xfrm>
            <a:off x="868680" y="2040554"/>
            <a:ext cx="3429000" cy="2148840"/>
          </a:xfrm>
          <a:prstGeom prst="roundRect">
            <a:avLst/>
          </a:prstGeom>
          <a:solidFill>
            <a:srgbClr val="F8FAFC"/>
          </a:solidFill>
          <a:ln w="12700">
            <a:solidFill>
              <a:schemeClr val="accent2"/>
            </a:solidFill>
            <a:prstDash val="solid"/>
          </a:ln>
        </p:spPr>
        <p:txBody>
          <a:bodyPr/>
          <a:lstStyle/>
          <a:p>
            <a:endParaRPr lang="en-US"/>
          </a:p>
        </p:txBody>
      </p:sp>
      <p:sp>
        <p:nvSpPr>
          <p:cNvPr id="9" name="Shape 7"/>
          <p:cNvSpPr/>
          <p:nvPr/>
        </p:nvSpPr>
        <p:spPr>
          <a:xfrm>
            <a:off x="868680" y="2040554"/>
            <a:ext cx="73152" cy="2148840"/>
          </a:xfrm>
          <a:prstGeom prst="rect">
            <a:avLst/>
          </a:prstGeom>
          <a:solidFill>
            <a:srgbClr val="F28E2B"/>
          </a:solidFill>
          <a:ln w="12700">
            <a:solidFill>
              <a:srgbClr val="F28E2B"/>
            </a:solidFill>
            <a:prstDash val="solid"/>
          </a:ln>
        </p:spPr>
        <p:txBody>
          <a:bodyPr/>
          <a:lstStyle/>
          <a:p>
            <a:endParaRPr lang="en-US"/>
          </a:p>
        </p:txBody>
      </p:sp>
      <p:sp>
        <p:nvSpPr>
          <p:cNvPr id="10" name="Text 8"/>
          <p:cNvSpPr/>
          <p:nvPr/>
        </p:nvSpPr>
        <p:spPr>
          <a:xfrm>
            <a:off x="1014984" y="2177714"/>
            <a:ext cx="3154680" cy="32004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Target distribution</a:t>
            </a:r>
            <a:endParaRPr lang="en-US" sz="1300" dirty="0"/>
          </a:p>
        </p:txBody>
      </p:sp>
      <p:sp>
        <p:nvSpPr>
          <p:cNvPr id="11" name="Text 9"/>
          <p:cNvSpPr/>
          <p:nvPr/>
        </p:nvSpPr>
        <p:spPr>
          <a:xfrm>
            <a:off x="1014984" y="2543474"/>
            <a:ext cx="3154680" cy="1508760"/>
          </a:xfrm>
          <a:prstGeom prst="rect">
            <a:avLst/>
          </a:prstGeom>
          <a:noFill/>
          <a:ln/>
        </p:spPr>
        <p:txBody>
          <a:bodyPr wrap="square" rtlCol="0" anchor="ctr"/>
          <a:lstStyle/>
          <a:p>
            <a:pPr marL="203200" indent="-203200">
              <a:spcAft>
                <a:spcPts val="300"/>
              </a:spcAft>
              <a:buSzPct val="100000"/>
              <a:buChar char="•"/>
            </a:pPr>
            <a:r>
              <a:rPr lang="en-US" sz="1150" dirty="0">
                <a:solidFill>
                  <a:srgbClr val="374151"/>
                </a:solidFill>
                <a:latin typeface="Calibri" pitchFamily="34" charset="0"/>
                <a:ea typeface="Calibri" pitchFamily="34" charset="-122"/>
                <a:cs typeface="Calibri" pitchFamily="34" charset="-120"/>
              </a:rPr>
              <a:t>Checked imbalance across outcomes.</a:t>
            </a:r>
            <a:endParaRPr lang="en-US" sz="1150" dirty="0"/>
          </a:p>
          <a:p>
            <a:pPr marL="203200" indent="-203200">
              <a:spcAft>
                <a:spcPts val="300"/>
              </a:spcAft>
              <a:buSzPct val="100000"/>
              <a:buChar char="•"/>
            </a:pPr>
            <a:r>
              <a:rPr lang="en-US" sz="1150" dirty="0">
                <a:solidFill>
                  <a:srgbClr val="374151"/>
                </a:solidFill>
                <a:latin typeface="Calibri" pitchFamily="34" charset="0"/>
                <a:ea typeface="Calibri" pitchFamily="34" charset="-122"/>
                <a:cs typeface="Calibri" pitchFamily="34" charset="-120"/>
              </a:rPr>
              <a:t>Motivated AUC-first evaluation.</a:t>
            </a:r>
            <a:endParaRPr lang="en-US" sz="1150" dirty="0"/>
          </a:p>
          <a:p>
            <a:pPr marL="203200" indent="-203200">
              <a:spcAft>
                <a:spcPts val="300"/>
              </a:spcAft>
              <a:buSzPct val="100000"/>
              <a:buChar char="•"/>
            </a:pPr>
            <a:r>
              <a:rPr lang="en-US" sz="1150" dirty="0">
                <a:solidFill>
                  <a:srgbClr val="374151"/>
                </a:solidFill>
                <a:latin typeface="Calibri" pitchFamily="34" charset="0"/>
                <a:ea typeface="Calibri" pitchFamily="34" charset="-122"/>
                <a:cs typeface="Calibri" pitchFamily="34" charset="-120"/>
              </a:rPr>
              <a:t>Informed stratified CV.</a:t>
            </a:r>
            <a:endParaRPr lang="en-US" sz="1150" dirty="0"/>
          </a:p>
        </p:txBody>
      </p:sp>
      <p:sp>
        <p:nvSpPr>
          <p:cNvPr id="12" name="Shape 10"/>
          <p:cNvSpPr/>
          <p:nvPr/>
        </p:nvSpPr>
        <p:spPr>
          <a:xfrm>
            <a:off x="4389120" y="2040554"/>
            <a:ext cx="3429000" cy="2148840"/>
          </a:xfrm>
          <a:prstGeom prst="roundRect">
            <a:avLst/>
          </a:prstGeom>
          <a:solidFill>
            <a:srgbClr val="F8FAFC"/>
          </a:solidFill>
          <a:ln w="12700">
            <a:solidFill>
              <a:schemeClr val="accent1"/>
            </a:solidFill>
            <a:prstDash val="solid"/>
          </a:ln>
        </p:spPr>
        <p:txBody>
          <a:bodyPr/>
          <a:lstStyle/>
          <a:p>
            <a:endParaRPr lang="en-US"/>
          </a:p>
        </p:txBody>
      </p:sp>
      <p:sp>
        <p:nvSpPr>
          <p:cNvPr id="13" name="Shape 11"/>
          <p:cNvSpPr/>
          <p:nvPr/>
        </p:nvSpPr>
        <p:spPr>
          <a:xfrm>
            <a:off x="4389120" y="2040554"/>
            <a:ext cx="73152" cy="2148840"/>
          </a:xfrm>
          <a:prstGeom prst="rect">
            <a:avLst/>
          </a:prstGeom>
          <a:solidFill>
            <a:srgbClr val="1F77B4"/>
          </a:solidFill>
          <a:ln w="12700">
            <a:solidFill>
              <a:srgbClr val="1F77B4"/>
            </a:solidFill>
            <a:prstDash val="solid"/>
          </a:ln>
        </p:spPr>
        <p:txBody>
          <a:bodyPr/>
          <a:lstStyle/>
          <a:p>
            <a:endParaRPr lang="en-US"/>
          </a:p>
        </p:txBody>
      </p:sp>
      <p:sp>
        <p:nvSpPr>
          <p:cNvPr id="14" name="Text 12"/>
          <p:cNvSpPr/>
          <p:nvPr/>
        </p:nvSpPr>
        <p:spPr>
          <a:xfrm>
            <a:off x="4535424" y="2177714"/>
            <a:ext cx="3154680" cy="32004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Feature distributions</a:t>
            </a:r>
            <a:endParaRPr lang="en-US" sz="1300" dirty="0"/>
          </a:p>
        </p:txBody>
      </p:sp>
      <p:sp>
        <p:nvSpPr>
          <p:cNvPr id="15" name="Text 13"/>
          <p:cNvSpPr/>
          <p:nvPr/>
        </p:nvSpPr>
        <p:spPr>
          <a:xfrm>
            <a:off x="4535424" y="2543474"/>
            <a:ext cx="3154680" cy="1508760"/>
          </a:xfrm>
          <a:prstGeom prst="rect">
            <a:avLst/>
          </a:prstGeom>
          <a:noFill/>
          <a:ln/>
        </p:spPr>
        <p:txBody>
          <a:bodyPr wrap="square" rtlCol="0" anchor="ctr"/>
          <a:lstStyle/>
          <a:p>
            <a:pPr marL="203200" indent="-203200">
              <a:spcAft>
                <a:spcPts val="300"/>
              </a:spcAft>
              <a:buSzPct val="100000"/>
              <a:buChar char="•"/>
            </a:pPr>
            <a:r>
              <a:rPr lang="en-US" sz="1150" dirty="0">
                <a:solidFill>
                  <a:srgbClr val="374151"/>
                </a:solidFill>
                <a:latin typeface="Calibri" pitchFamily="34" charset="0"/>
                <a:ea typeface="Calibri" pitchFamily="34" charset="-122"/>
                <a:cs typeface="Calibri" pitchFamily="34" charset="-120"/>
              </a:rPr>
              <a:t>Histograms for numeric variables.</a:t>
            </a:r>
            <a:endParaRPr lang="en-US" sz="1150" dirty="0"/>
          </a:p>
          <a:p>
            <a:pPr marL="203200" indent="-203200">
              <a:spcAft>
                <a:spcPts val="300"/>
              </a:spcAft>
              <a:buSzPct val="100000"/>
              <a:buChar char="•"/>
            </a:pPr>
            <a:r>
              <a:rPr lang="en-US" sz="1150" dirty="0">
                <a:solidFill>
                  <a:srgbClr val="374151"/>
                </a:solidFill>
                <a:latin typeface="Calibri" pitchFamily="34" charset="0"/>
                <a:ea typeface="Calibri" pitchFamily="34" charset="-122"/>
                <a:cs typeface="Calibri" pitchFamily="34" charset="-120"/>
              </a:rPr>
              <a:t>Scale differences observed → standardization.</a:t>
            </a:r>
            <a:endParaRPr lang="en-US" sz="1150" dirty="0"/>
          </a:p>
          <a:p>
            <a:pPr marL="203200" indent="-203200">
              <a:spcAft>
                <a:spcPts val="300"/>
              </a:spcAft>
              <a:buSzPct val="100000"/>
              <a:buChar char="•"/>
            </a:pPr>
            <a:r>
              <a:rPr lang="en-US" sz="1150" dirty="0">
                <a:solidFill>
                  <a:srgbClr val="374151"/>
                </a:solidFill>
                <a:latin typeface="Calibri" pitchFamily="34" charset="0"/>
                <a:ea typeface="Calibri" pitchFamily="34" charset="-122"/>
                <a:cs typeface="Calibri" pitchFamily="34" charset="-120"/>
              </a:rPr>
              <a:t>Screened for extreme values.</a:t>
            </a:r>
            <a:endParaRPr lang="en-US" sz="1150" dirty="0"/>
          </a:p>
        </p:txBody>
      </p:sp>
      <p:sp>
        <p:nvSpPr>
          <p:cNvPr id="16" name="Shape 14"/>
          <p:cNvSpPr/>
          <p:nvPr/>
        </p:nvSpPr>
        <p:spPr>
          <a:xfrm>
            <a:off x="7909560" y="2040554"/>
            <a:ext cx="3429000" cy="2148840"/>
          </a:xfrm>
          <a:prstGeom prst="roundRect">
            <a:avLst/>
          </a:prstGeom>
          <a:solidFill>
            <a:srgbClr val="F8FAFC"/>
          </a:solidFill>
          <a:ln w="12700">
            <a:solidFill>
              <a:schemeClr val="accent6">
                <a:lumMod val="50000"/>
              </a:schemeClr>
            </a:solidFill>
            <a:prstDash val="solid"/>
          </a:ln>
        </p:spPr>
        <p:txBody>
          <a:bodyPr/>
          <a:lstStyle/>
          <a:p>
            <a:endParaRPr lang="en-US"/>
          </a:p>
        </p:txBody>
      </p:sp>
      <p:sp>
        <p:nvSpPr>
          <p:cNvPr id="17" name="Shape 15"/>
          <p:cNvSpPr/>
          <p:nvPr/>
        </p:nvSpPr>
        <p:spPr>
          <a:xfrm>
            <a:off x="7909560" y="2040554"/>
            <a:ext cx="73152" cy="2148840"/>
          </a:xfrm>
          <a:prstGeom prst="rect">
            <a:avLst/>
          </a:prstGeom>
          <a:solidFill>
            <a:srgbClr val="0E7C7B"/>
          </a:solidFill>
          <a:ln w="12700">
            <a:solidFill>
              <a:srgbClr val="0E7C7B"/>
            </a:solidFill>
            <a:prstDash val="solid"/>
          </a:ln>
        </p:spPr>
        <p:txBody>
          <a:bodyPr/>
          <a:lstStyle/>
          <a:p>
            <a:endParaRPr lang="en-US"/>
          </a:p>
        </p:txBody>
      </p:sp>
      <p:sp>
        <p:nvSpPr>
          <p:cNvPr id="18" name="Text 16"/>
          <p:cNvSpPr/>
          <p:nvPr/>
        </p:nvSpPr>
        <p:spPr>
          <a:xfrm>
            <a:off x="8055864" y="2177714"/>
            <a:ext cx="3154680" cy="32004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Relationships &amp; correlation</a:t>
            </a:r>
            <a:endParaRPr lang="en-US" sz="1300" dirty="0"/>
          </a:p>
        </p:txBody>
      </p:sp>
      <p:sp>
        <p:nvSpPr>
          <p:cNvPr id="19" name="Text 17"/>
          <p:cNvSpPr/>
          <p:nvPr/>
        </p:nvSpPr>
        <p:spPr>
          <a:xfrm>
            <a:off x="8055864" y="2543474"/>
            <a:ext cx="3154680" cy="1508760"/>
          </a:xfrm>
          <a:prstGeom prst="rect">
            <a:avLst/>
          </a:prstGeom>
          <a:noFill/>
          <a:ln/>
        </p:spPr>
        <p:txBody>
          <a:bodyPr wrap="square" rtlCol="0" anchor="ctr"/>
          <a:lstStyle/>
          <a:p>
            <a:pPr marL="203200" indent="-203200">
              <a:spcAft>
                <a:spcPts val="300"/>
              </a:spcAft>
              <a:buSzPct val="100000"/>
              <a:buChar char="•"/>
            </a:pPr>
            <a:r>
              <a:rPr lang="en-US" sz="1150" dirty="0">
                <a:solidFill>
                  <a:srgbClr val="374151"/>
                </a:solidFill>
                <a:latin typeface="Calibri" pitchFamily="34" charset="0"/>
                <a:ea typeface="Calibri" pitchFamily="34" charset="-122"/>
                <a:cs typeface="Calibri" pitchFamily="34" charset="-120"/>
              </a:rPr>
              <a:t>Correlation heatmap (numeric + target).</a:t>
            </a:r>
            <a:endParaRPr lang="en-US" sz="1150" dirty="0"/>
          </a:p>
          <a:p>
            <a:pPr marL="203200" indent="-203200">
              <a:spcAft>
                <a:spcPts val="300"/>
              </a:spcAft>
              <a:buSzPct val="100000"/>
              <a:buChar char="•"/>
            </a:pPr>
            <a:r>
              <a:rPr lang="en-US" sz="1150" dirty="0">
                <a:solidFill>
                  <a:srgbClr val="374151"/>
                </a:solidFill>
                <a:latin typeface="Calibri" pitchFamily="34" charset="0"/>
                <a:ea typeface="Calibri" pitchFamily="34" charset="-122"/>
                <a:cs typeface="Calibri" pitchFamily="34" charset="-120"/>
              </a:rPr>
              <a:t>Identified collinearity structure.</a:t>
            </a:r>
            <a:endParaRPr lang="en-US" sz="1150" dirty="0"/>
          </a:p>
          <a:p>
            <a:pPr marL="203200" indent="-203200">
              <a:spcAft>
                <a:spcPts val="300"/>
              </a:spcAft>
              <a:buSzPct val="100000"/>
              <a:buChar char="•"/>
            </a:pPr>
            <a:r>
              <a:rPr lang="en-US" sz="1150" dirty="0">
                <a:solidFill>
                  <a:srgbClr val="374151"/>
                </a:solidFill>
                <a:latin typeface="Calibri" pitchFamily="34" charset="0"/>
                <a:ea typeface="Calibri" pitchFamily="34" charset="-122"/>
                <a:cs typeface="Calibri" pitchFamily="34" charset="-120"/>
              </a:rPr>
              <a:t>Motivated PCA exploration.</a:t>
            </a:r>
            <a:endParaRPr lang="en-US" sz="1150" dirty="0"/>
          </a:p>
        </p:txBody>
      </p:sp>
      <p:sp>
        <p:nvSpPr>
          <p:cNvPr id="20" name="Text 18"/>
          <p:cNvSpPr/>
          <p:nvPr/>
        </p:nvSpPr>
        <p:spPr>
          <a:xfrm>
            <a:off x="868680" y="4372274"/>
            <a:ext cx="10515600" cy="32004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Key outcome of EDA</a:t>
            </a:r>
            <a:endParaRPr lang="en-US" sz="1300" dirty="0"/>
          </a:p>
        </p:txBody>
      </p:sp>
      <p:sp>
        <p:nvSpPr>
          <p:cNvPr id="21" name="Text 19"/>
          <p:cNvSpPr/>
          <p:nvPr/>
        </p:nvSpPr>
        <p:spPr>
          <a:xfrm>
            <a:off x="868680" y="4692314"/>
            <a:ext cx="10515600" cy="822960"/>
          </a:xfrm>
          <a:prstGeom prst="rect">
            <a:avLst/>
          </a:prstGeom>
          <a:noFill/>
          <a:ln/>
        </p:spPr>
        <p:txBody>
          <a:bodyPr wrap="square" rtlCol="0" anchor="ctr"/>
          <a:lstStyle/>
          <a:p>
            <a:pPr marL="0" indent="0">
              <a:buNone/>
            </a:pPr>
            <a:r>
              <a:rPr lang="en-US" sz="1200" dirty="0">
                <a:solidFill>
                  <a:srgbClr val="374151"/>
                </a:solidFill>
                <a:latin typeface="Calibri" pitchFamily="34" charset="0"/>
                <a:ea typeface="Calibri" pitchFamily="34" charset="-122"/>
                <a:cs typeface="Calibri" pitchFamily="34" charset="-120"/>
              </a:rPr>
              <a:t>EDA validated: (1) outcome imbalance, (2) heterogeneous feature scales, and (3) correlated numeric blocks — guiding metric choice, preprocessing, and PCA-based analysis.</a:t>
            </a:r>
            <a:endParaRPr lang="en-US" sz="1200" dirty="0"/>
          </a:p>
        </p:txBody>
      </p:sp>
      <p:sp>
        <p:nvSpPr>
          <p:cNvPr id="24" name="Shape 22"/>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25" name="Text 23"/>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3</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Feature Engineering, Selection &amp; Dimensionality Reduction</a:t>
            </a:r>
            <a:endParaRPr lang="en-US" sz="2000" dirty="0"/>
          </a:p>
        </p:txBody>
      </p:sp>
      <p:sp>
        <p:nvSpPr>
          <p:cNvPr id="6" name="Shape 4"/>
          <p:cNvSpPr/>
          <p:nvPr/>
        </p:nvSpPr>
        <p:spPr>
          <a:xfrm>
            <a:off x="640080" y="960120"/>
            <a:ext cx="5440680" cy="2468880"/>
          </a:xfrm>
          <a:prstGeom prst="roundRect">
            <a:avLst/>
          </a:prstGeom>
          <a:solidFill>
            <a:srgbClr val="FFFFFF"/>
          </a:solidFill>
          <a:ln w="12700">
            <a:solidFill>
              <a:schemeClr val="accent1"/>
            </a:solidFill>
            <a:prstDash val="solid"/>
          </a:ln>
          <a:effectLst>
            <a:outerShdw blurRad="25400" dist="19050" dir="2700000" algn="bl" rotWithShape="0">
              <a:srgbClr val="000000">
                <a:alpha val="14000"/>
              </a:srgbClr>
            </a:outerShdw>
          </a:effectLst>
        </p:spPr>
        <p:txBody>
          <a:bodyPr/>
          <a:lstStyle/>
          <a:p>
            <a:endParaRPr lang="en-US"/>
          </a:p>
        </p:txBody>
      </p:sp>
      <p:sp>
        <p:nvSpPr>
          <p:cNvPr id="7" name="Shape 5"/>
          <p:cNvSpPr/>
          <p:nvPr/>
        </p:nvSpPr>
        <p:spPr>
          <a:xfrm>
            <a:off x="640080" y="960120"/>
            <a:ext cx="73152" cy="2468880"/>
          </a:xfrm>
          <a:prstGeom prst="rect">
            <a:avLst/>
          </a:prstGeom>
          <a:solidFill>
            <a:srgbClr val="0E7C7B"/>
          </a:solidFill>
          <a:ln w="12700">
            <a:solidFill>
              <a:srgbClr val="0E7C7B"/>
            </a:solidFill>
            <a:prstDash val="solid"/>
          </a:ln>
        </p:spPr>
        <p:txBody>
          <a:bodyPr/>
          <a:lstStyle/>
          <a:p>
            <a:endParaRPr lang="en-US"/>
          </a:p>
        </p:txBody>
      </p:sp>
      <p:sp>
        <p:nvSpPr>
          <p:cNvPr id="8" name="Text 6"/>
          <p:cNvSpPr/>
          <p:nvPr/>
        </p:nvSpPr>
        <p:spPr>
          <a:xfrm>
            <a:off x="804672" y="1124712"/>
            <a:ext cx="511149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Feature engineering</a:t>
            </a:r>
            <a:endParaRPr lang="en-US" sz="1400" dirty="0"/>
          </a:p>
        </p:txBody>
      </p:sp>
      <p:sp>
        <p:nvSpPr>
          <p:cNvPr id="9" name="Text 7"/>
          <p:cNvSpPr/>
          <p:nvPr/>
        </p:nvSpPr>
        <p:spPr>
          <a:xfrm>
            <a:off x="804672" y="1463040"/>
            <a:ext cx="5111496" cy="182880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Categoricals → one-hot encoding (handle_unknown="ignore").</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Numerics → standardized for linear/SVM models.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Target engineered: multi-class → binary (Dropout vs Non-dropout) for intervention policy.</a:t>
            </a:r>
            <a:endParaRPr lang="en-US" sz="1200" dirty="0"/>
          </a:p>
        </p:txBody>
      </p:sp>
      <p:sp>
        <p:nvSpPr>
          <p:cNvPr id="10" name="Shape 8"/>
          <p:cNvSpPr/>
          <p:nvPr/>
        </p:nvSpPr>
        <p:spPr>
          <a:xfrm>
            <a:off x="6263640" y="960120"/>
            <a:ext cx="5257800" cy="2468880"/>
          </a:xfrm>
          <a:prstGeom prst="roundRect">
            <a:avLst/>
          </a:prstGeom>
          <a:solidFill>
            <a:srgbClr val="FFFFFF"/>
          </a:solidFill>
          <a:ln w="12700">
            <a:solidFill>
              <a:schemeClr val="accent2"/>
            </a:solidFill>
            <a:prstDash val="solid"/>
          </a:ln>
          <a:effectLst>
            <a:outerShdw blurRad="25400" dist="19050" dir="2700000" algn="bl" rotWithShape="0">
              <a:srgbClr val="000000">
                <a:alpha val="14000"/>
              </a:srgbClr>
            </a:outerShdw>
          </a:effectLst>
        </p:spPr>
        <p:txBody>
          <a:bodyPr/>
          <a:lstStyle/>
          <a:p>
            <a:endParaRPr lang="en-US"/>
          </a:p>
        </p:txBody>
      </p:sp>
      <p:sp>
        <p:nvSpPr>
          <p:cNvPr id="11" name="Shape 9"/>
          <p:cNvSpPr/>
          <p:nvPr/>
        </p:nvSpPr>
        <p:spPr>
          <a:xfrm>
            <a:off x="6263640" y="960120"/>
            <a:ext cx="73152" cy="2468880"/>
          </a:xfrm>
          <a:prstGeom prst="rect">
            <a:avLst/>
          </a:prstGeom>
          <a:solidFill>
            <a:srgbClr val="F28E2B"/>
          </a:solidFill>
          <a:ln w="12700">
            <a:solidFill>
              <a:srgbClr val="F28E2B"/>
            </a:solidFill>
            <a:prstDash val="solid"/>
          </a:ln>
        </p:spPr>
        <p:txBody>
          <a:bodyPr/>
          <a:lstStyle/>
          <a:p>
            <a:endParaRPr lang="en-US"/>
          </a:p>
        </p:txBody>
      </p:sp>
      <p:sp>
        <p:nvSpPr>
          <p:cNvPr id="12" name="Text 10"/>
          <p:cNvSpPr/>
          <p:nvPr/>
        </p:nvSpPr>
        <p:spPr>
          <a:xfrm>
            <a:off x="6428232" y="1124712"/>
            <a:ext cx="492861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Feature selection (embedded)</a:t>
            </a:r>
            <a:endParaRPr lang="en-US" sz="1400" dirty="0"/>
          </a:p>
        </p:txBody>
      </p:sp>
      <p:sp>
        <p:nvSpPr>
          <p:cNvPr id="13" name="Text 11"/>
          <p:cNvSpPr/>
          <p:nvPr/>
        </p:nvSpPr>
        <p:spPr>
          <a:xfrm>
            <a:off x="6428232" y="1463040"/>
            <a:ext cx="4928616" cy="182880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L1-regularized Logistic Regression (sparse coefficients).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Supports interpretability and guards against overfitting.</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Used as a feature-selection lens alongside model comparison.</a:t>
            </a:r>
            <a:endParaRPr lang="en-US" sz="1200" dirty="0"/>
          </a:p>
        </p:txBody>
      </p:sp>
      <p:sp>
        <p:nvSpPr>
          <p:cNvPr id="14" name="Shape 12"/>
          <p:cNvSpPr/>
          <p:nvPr/>
        </p:nvSpPr>
        <p:spPr>
          <a:xfrm>
            <a:off x="640080" y="3611880"/>
            <a:ext cx="10881360" cy="274320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15" name="Text 13"/>
          <p:cNvSpPr/>
          <p:nvPr/>
        </p:nvSpPr>
        <p:spPr>
          <a:xfrm>
            <a:off x="822960" y="3794760"/>
            <a:ext cx="1051560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Dimensionality Reduction (PCA)</a:t>
            </a:r>
            <a:endParaRPr lang="en-US" sz="1400" dirty="0"/>
          </a:p>
        </p:txBody>
      </p:sp>
      <p:sp>
        <p:nvSpPr>
          <p:cNvPr id="16" name="Text 14"/>
          <p:cNvSpPr/>
          <p:nvPr/>
        </p:nvSpPr>
        <p:spPr>
          <a:xfrm>
            <a:off x="868680" y="4160520"/>
            <a:ext cx="10241280" cy="1234440"/>
          </a:xfrm>
          <a:prstGeom prst="rect">
            <a:avLst/>
          </a:prstGeom>
          <a:noFill/>
          <a:ln/>
        </p:spPr>
        <p:txBody>
          <a:bodyPr wrap="square" rtlCol="0" anchor="ctr"/>
          <a:lstStyle/>
          <a:p>
            <a:pPr marL="0" indent="0">
              <a:buNone/>
            </a:pPr>
            <a:r>
              <a:rPr lang="en-US" sz="1200" dirty="0">
                <a:solidFill>
                  <a:srgbClr val="374151"/>
                </a:solidFill>
                <a:latin typeface="Calibri" pitchFamily="34" charset="0"/>
                <a:ea typeface="Calibri" pitchFamily="34" charset="-122"/>
                <a:cs typeface="Calibri" pitchFamily="34" charset="-120"/>
              </a:rPr>
              <a:t>PCA was applied on the preprocessed feature matrix with n_components=0.95 to retain 95% variance. This was used to:</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assess correlation/variance structure</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sanity-check the effective dimensionality of the encoded feature space</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inform whether compact representations could work for linear models</a:t>
            </a:r>
            <a:endParaRPr lang="en-US" sz="1200" dirty="0"/>
          </a:p>
        </p:txBody>
      </p:sp>
      <p:sp>
        <p:nvSpPr>
          <p:cNvPr id="17" name="Shape 15"/>
          <p:cNvSpPr/>
          <p:nvPr/>
        </p:nvSpPr>
        <p:spPr>
          <a:xfrm>
            <a:off x="868680" y="5532120"/>
            <a:ext cx="10241280" cy="685800"/>
          </a:xfrm>
          <a:prstGeom prst="rect">
            <a:avLst/>
          </a:prstGeom>
          <a:solidFill>
            <a:srgbClr val="F0FDFA"/>
          </a:solidFill>
          <a:ln w="12700">
            <a:solidFill>
              <a:srgbClr val="99F6E4"/>
            </a:solidFill>
            <a:prstDash val="solid"/>
          </a:ln>
        </p:spPr>
        <p:txBody>
          <a:bodyPr/>
          <a:lstStyle/>
          <a:p>
            <a:endParaRPr lang="en-US"/>
          </a:p>
        </p:txBody>
      </p:sp>
      <p:sp>
        <p:nvSpPr>
          <p:cNvPr id="18" name="Text 16"/>
          <p:cNvSpPr/>
          <p:nvPr/>
        </p:nvSpPr>
        <p:spPr>
          <a:xfrm>
            <a:off x="1051560" y="5650992"/>
            <a:ext cx="9875520" cy="457200"/>
          </a:xfrm>
          <a:prstGeom prst="rect">
            <a:avLst/>
          </a:prstGeom>
          <a:noFill/>
          <a:ln/>
        </p:spPr>
        <p:txBody>
          <a:bodyPr wrap="square" rtlCol="0" anchor="ctr"/>
          <a:lstStyle/>
          <a:p>
            <a:pPr marL="0" indent="0">
              <a:buNone/>
            </a:pPr>
            <a:r>
              <a:rPr lang="en-US" sz="1150" dirty="0">
                <a:solidFill>
                  <a:srgbClr val="374151"/>
                </a:solidFill>
                <a:latin typeface="Calibri" pitchFamily="34" charset="0"/>
                <a:ea typeface="Calibri" pitchFamily="34" charset="-122"/>
                <a:cs typeface="Calibri" pitchFamily="34" charset="-120"/>
              </a:rPr>
              <a:t>Note: PCA used for analysis and variant evaluation; final production model kept the full pipeline for interpretability and fidelity.</a:t>
            </a:r>
            <a:endParaRPr lang="en-US" sz="1150" dirty="0"/>
          </a:p>
        </p:txBody>
      </p:sp>
      <p:sp>
        <p:nvSpPr>
          <p:cNvPr id="19" name="Shape 17"/>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20" name="Text 18"/>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4</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Model Implementation &amp; Comparison — Cross-Validation</a:t>
            </a:r>
            <a:endParaRPr lang="en-US" sz="2000" dirty="0"/>
          </a:p>
        </p:txBody>
      </p:sp>
      <p:sp>
        <p:nvSpPr>
          <p:cNvPr id="6" name="Shape 4"/>
          <p:cNvSpPr/>
          <p:nvPr/>
        </p:nvSpPr>
        <p:spPr>
          <a:xfrm>
            <a:off x="640080" y="960120"/>
            <a:ext cx="5577840" cy="205740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7" name="Text 5"/>
          <p:cNvSpPr/>
          <p:nvPr/>
        </p:nvSpPr>
        <p:spPr>
          <a:xfrm>
            <a:off x="822960" y="1143000"/>
            <a:ext cx="521208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Candidates evaluated</a:t>
            </a:r>
            <a:endParaRPr lang="en-US" sz="1400" dirty="0"/>
          </a:p>
        </p:txBody>
      </p:sp>
      <p:sp>
        <p:nvSpPr>
          <p:cNvPr id="8" name="Text 6"/>
          <p:cNvSpPr/>
          <p:nvPr/>
        </p:nvSpPr>
        <p:spPr>
          <a:xfrm>
            <a:off x="868680" y="1508760"/>
            <a:ext cx="5257800" cy="1417320"/>
          </a:xfrm>
          <a:prstGeom prst="rect">
            <a:avLst/>
          </a:prstGeom>
          <a:noFill/>
          <a:ln/>
        </p:spPr>
        <p:txBody>
          <a:bodyPr wrap="square" rtlCol="0" anchor="ctr"/>
          <a:lstStyle/>
          <a:p>
            <a:pPr marL="228600" indent="-228600">
              <a:spcAft>
                <a:spcPts val="300"/>
              </a:spcAft>
              <a:buSzPct val="100000"/>
              <a:buChar char="•"/>
            </a:pPr>
            <a:r>
              <a:rPr lang="en-US" sz="1200" dirty="0">
                <a:solidFill>
                  <a:srgbClr val="374151"/>
                </a:solidFill>
                <a:latin typeface="Calibri" pitchFamily="34" charset="0"/>
                <a:ea typeface="Calibri" pitchFamily="34" charset="-122"/>
                <a:cs typeface="Calibri" pitchFamily="34" charset="-120"/>
              </a:rPr>
              <a:t>Logistic Regression</a:t>
            </a:r>
            <a:endParaRPr lang="en-US" sz="1200" dirty="0"/>
          </a:p>
          <a:p>
            <a:pPr marL="228600" indent="-228600">
              <a:spcAft>
                <a:spcPts val="300"/>
              </a:spcAft>
              <a:buSzPct val="100000"/>
              <a:buChar char="•"/>
            </a:pPr>
            <a:r>
              <a:rPr lang="en-US" sz="1200" dirty="0">
                <a:solidFill>
                  <a:srgbClr val="374151"/>
                </a:solidFill>
                <a:latin typeface="Calibri" pitchFamily="34" charset="0"/>
                <a:ea typeface="Calibri" pitchFamily="34" charset="-122"/>
                <a:cs typeface="Calibri" pitchFamily="34" charset="-120"/>
              </a:rPr>
              <a:t>Random Forest</a:t>
            </a:r>
            <a:endParaRPr lang="en-US" sz="1200" dirty="0"/>
          </a:p>
          <a:p>
            <a:pPr marL="228600" indent="-228600">
              <a:spcAft>
                <a:spcPts val="300"/>
              </a:spcAft>
              <a:buSzPct val="100000"/>
              <a:buChar char="•"/>
            </a:pPr>
            <a:r>
              <a:rPr lang="en-US" sz="1200" dirty="0">
                <a:solidFill>
                  <a:srgbClr val="374151"/>
                </a:solidFill>
                <a:latin typeface="Calibri" pitchFamily="34" charset="0"/>
                <a:ea typeface="Calibri" pitchFamily="34" charset="-122"/>
                <a:cs typeface="Calibri" pitchFamily="34" charset="-120"/>
              </a:rPr>
              <a:t>SVM (RBF)</a:t>
            </a:r>
            <a:endParaRPr lang="en-US" sz="1200" dirty="0"/>
          </a:p>
          <a:p>
            <a:pPr marL="228600" indent="-228600">
              <a:spcAft>
                <a:spcPts val="300"/>
              </a:spcAft>
              <a:buSzPct val="100000"/>
              <a:buChar char="•"/>
            </a:pPr>
            <a:r>
              <a:rPr lang="en-US" sz="1200" dirty="0">
                <a:solidFill>
                  <a:srgbClr val="374151"/>
                </a:solidFill>
                <a:latin typeface="Calibri" pitchFamily="34" charset="0"/>
                <a:ea typeface="Calibri" pitchFamily="34" charset="-122"/>
                <a:cs typeface="Calibri" pitchFamily="34" charset="-120"/>
              </a:rPr>
              <a:t>Gradient Boosting</a:t>
            </a:r>
            <a:endParaRPr lang="en-US" sz="1200" dirty="0"/>
          </a:p>
          <a:p>
            <a:pPr marL="228600" indent="-228600">
              <a:spcAft>
                <a:spcPts val="300"/>
              </a:spcAft>
              <a:buSzPct val="100000"/>
              <a:buChar char="•"/>
            </a:pPr>
            <a:endParaRPr lang="en-US" sz="1200" dirty="0"/>
          </a:p>
          <a:p>
            <a:pPr marL="228600" indent="-228600">
              <a:spcAft>
                <a:spcPts val="300"/>
              </a:spcAft>
              <a:buSzPct val="100000"/>
              <a:buChar char="•"/>
            </a:pPr>
            <a:r>
              <a:rPr lang="en-US" sz="1200" dirty="0">
                <a:solidFill>
                  <a:srgbClr val="374151"/>
                </a:solidFill>
                <a:latin typeface="Calibri" pitchFamily="34" charset="0"/>
                <a:ea typeface="Calibri" pitchFamily="34" charset="-122"/>
                <a:cs typeface="Calibri" pitchFamily="34" charset="-120"/>
              </a:rPr>
              <a:t>Evaluation: 5-fold Stratified CV</a:t>
            </a:r>
            <a:endParaRPr lang="en-US" sz="1200" dirty="0"/>
          </a:p>
          <a:p>
            <a:pPr marL="228600" indent="-228600">
              <a:spcAft>
                <a:spcPts val="300"/>
              </a:spcAft>
              <a:buSzPct val="100000"/>
              <a:buChar char="•"/>
            </a:pPr>
            <a:r>
              <a:rPr lang="en-US" sz="1200" dirty="0">
                <a:solidFill>
                  <a:srgbClr val="374151"/>
                </a:solidFill>
                <a:latin typeface="Calibri" pitchFamily="34" charset="0"/>
                <a:ea typeface="Calibri" pitchFamily="34" charset="-122"/>
                <a:cs typeface="Calibri" pitchFamily="34" charset="-120"/>
              </a:rPr>
              <a:t>Metrics: ROC-AUC, F1, Precision, Recall</a:t>
            </a:r>
            <a:endParaRPr lang="en-US" sz="1200" dirty="0"/>
          </a:p>
        </p:txBody>
      </p:sp>
      <p:sp>
        <p:nvSpPr>
          <p:cNvPr id="9" name="Shape 7"/>
          <p:cNvSpPr/>
          <p:nvPr/>
        </p:nvSpPr>
        <p:spPr>
          <a:xfrm>
            <a:off x="6355080" y="960120"/>
            <a:ext cx="5166360" cy="219456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10" name="Text 8"/>
          <p:cNvSpPr/>
          <p:nvPr/>
        </p:nvSpPr>
        <p:spPr>
          <a:xfrm>
            <a:off x="6537960" y="1143000"/>
            <a:ext cx="4800600" cy="32004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CV ROC-AUC (higher is better)</a:t>
            </a:r>
            <a:endParaRPr lang="en-US" sz="1300" dirty="0"/>
          </a:p>
        </p:txBody>
      </p:sp>
      <p:graphicFrame>
        <p:nvGraphicFramePr>
          <p:cNvPr id="11" name="Chart 0"/>
          <p:cNvGraphicFramePr/>
          <p:nvPr/>
        </p:nvGraphicFramePr>
        <p:xfrm>
          <a:off x="6537960" y="1444752"/>
          <a:ext cx="480060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40080" y="3246120"/>
            <a:ext cx="10881360" cy="306324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13" name="Text 10"/>
          <p:cNvSpPr/>
          <p:nvPr/>
        </p:nvSpPr>
        <p:spPr>
          <a:xfrm>
            <a:off x="822960" y="3429000"/>
            <a:ext cx="1051560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Cross-validated performance summary (means)</a:t>
            </a:r>
            <a:endParaRPr lang="en-US" sz="1400" dirty="0"/>
          </a:p>
        </p:txBody>
      </p:sp>
      <p:sp>
        <p:nvSpPr>
          <p:cNvPr id="14" name="Shape 11"/>
          <p:cNvSpPr/>
          <p:nvPr/>
        </p:nvSpPr>
        <p:spPr>
          <a:xfrm>
            <a:off x="822960" y="3840480"/>
            <a:ext cx="10515600" cy="384048"/>
          </a:xfrm>
          <a:prstGeom prst="rect">
            <a:avLst/>
          </a:prstGeom>
          <a:solidFill>
            <a:srgbClr val="F3F4F6"/>
          </a:solidFill>
          <a:ln w="12700">
            <a:solidFill>
              <a:srgbClr val="E5E7EB"/>
            </a:solidFill>
            <a:prstDash val="solid"/>
          </a:ln>
        </p:spPr>
        <p:txBody>
          <a:bodyPr/>
          <a:lstStyle/>
          <a:p>
            <a:endParaRPr lang="en-US"/>
          </a:p>
        </p:txBody>
      </p:sp>
      <p:sp>
        <p:nvSpPr>
          <p:cNvPr id="15" name="Text 12"/>
          <p:cNvSpPr/>
          <p:nvPr/>
        </p:nvSpPr>
        <p:spPr>
          <a:xfrm>
            <a:off x="914400" y="3913632"/>
            <a:ext cx="3602736" cy="237744"/>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Model</a:t>
            </a:r>
            <a:endParaRPr lang="en-US" sz="1100" dirty="0"/>
          </a:p>
        </p:txBody>
      </p:sp>
      <p:sp>
        <p:nvSpPr>
          <p:cNvPr id="16" name="Shape 13"/>
          <p:cNvSpPr/>
          <p:nvPr/>
        </p:nvSpPr>
        <p:spPr>
          <a:xfrm>
            <a:off x="4608576" y="3840480"/>
            <a:ext cx="0" cy="1920240"/>
          </a:xfrm>
          <a:prstGeom prst="line">
            <a:avLst/>
          </a:prstGeom>
          <a:noFill/>
          <a:ln w="12700">
            <a:solidFill>
              <a:srgbClr val="E5E7EB"/>
            </a:solidFill>
            <a:prstDash val="solid"/>
          </a:ln>
        </p:spPr>
        <p:txBody>
          <a:bodyPr/>
          <a:lstStyle/>
          <a:p>
            <a:endParaRPr lang="en-US"/>
          </a:p>
        </p:txBody>
      </p:sp>
      <p:sp>
        <p:nvSpPr>
          <p:cNvPr id="17" name="Text 14"/>
          <p:cNvSpPr/>
          <p:nvPr/>
        </p:nvSpPr>
        <p:spPr>
          <a:xfrm>
            <a:off x="4700016" y="3913632"/>
            <a:ext cx="1499616" cy="237744"/>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ROC-AUC</a:t>
            </a:r>
            <a:endParaRPr lang="en-US" sz="1100" dirty="0"/>
          </a:p>
        </p:txBody>
      </p:sp>
      <p:sp>
        <p:nvSpPr>
          <p:cNvPr id="18" name="Shape 15"/>
          <p:cNvSpPr/>
          <p:nvPr/>
        </p:nvSpPr>
        <p:spPr>
          <a:xfrm>
            <a:off x="6291072" y="3840480"/>
            <a:ext cx="0" cy="1920240"/>
          </a:xfrm>
          <a:prstGeom prst="line">
            <a:avLst/>
          </a:prstGeom>
          <a:noFill/>
          <a:ln w="12700">
            <a:solidFill>
              <a:srgbClr val="E5E7EB"/>
            </a:solidFill>
            <a:prstDash val="solid"/>
          </a:ln>
        </p:spPr>
        <p:txBody>
          <a:bodyPr/>
          <a:lstStyle/>
          <a:p>
            <a:endParaRPr lang="en-US"/>
          </a:p>
        </p:txBody>
      </p:sp>
      <p:sp>
        <p:nvSpPr>
          <p:cNvPr id="19" name="Text 16"/>
          <p:cNvSpPr/>
          <p:nvPr/>
        </p:nvSpPr>
        <p:spPr>
          <a:xfrm>
            <a:off x="6382512" y="3913632"/>
            <a:ext cx="1499616" cy="237744"/>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F1</a:t>
            </a:r>
            <a:endParaRPr lang="en-US" sz="1100" dirty="0"/>
          </a:p>
        </p:txBody>
      </p:sp>
      <p:sp>
        <p:nvSpPr>
          <p:cNvPr id="20" name="Shape 17"/>
          <p:cNvSpPr/>
          <p:nvPr/>
        </p:nvSpPr>
        <p:spPr>
          <a:xfrm>
            <a:off x="7973568" y="3840480"/>
            <a:ext cx="0" cy="1920240"/>
          </a:xfrm>
          <a:prstGeom prst="line">
            <a:avLst/>
          </a:prstGeom>
          <a:noFill/>
          <a:ln w="12700">
            <a:solidFill>
              <a:srgbClr val="E5E7EB"/>
            </a:solidFill>
            <a:prstDash val="solid"/>
          </a:ln>
        </p:spPr>
        <p:txBody>
          <a:bodyPr/>
          <a:lstStyle/>
          <a:p>
            <a:endParaRPr lang="en-US"/>
          </a:p>
        </p:txBody>
      </p:sp>
      <p:sp>
        <p:nvSpPr>
          <p:cNvPr id="21" name="Text 18"/>
          <p:cNvSpPr/>
          <p:nvPr/>
        </p:nvSpPr>
        <p:spPr>
          <a:xfrm>
            <a:off x="8065008" y="3913632"/>
            <a:ext cx="1499616" cy="237744"/>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Precision</a:t>
            </a:r>
            <a:endParaRPr lang="en-US" sz="1100" dirty="0"/>
          </a:p>
        </p:txBody>
      </p:sp>
      <p:sp>
        <p:nvSpPr>
          <p:cNvPr id="22" name="Shape 19"/>
          <p:cNvSpPr/>
          <p:nvPr/>
        </p:nvSpPr>
        <p:spPr>
          <a:xfrm>
            <a:off x="9656064" y="3840480"/>
            <a:ext cx="0" cy="1920240"/>
          </a:xfrm>
          <a:prstGeom prst="line">
            <a:avLst/>
          </a:prstGeom>
          <a:noFill/>
          <a:ln w="12700">
            <a:solidFill>
              <a:srgbClr val="E5E7EB"/>
            </a:solidFill>
            <a:prstDash val="solid"/>
          </a:ln>
        </p:spPr>
        <p:txBody>
          <a:bodyPr/>
          <a:lstStyle/>
          <a:p>
            <a:endParaRPr lang="en-US"/>
          </a:p>
        </p:txBody>
      </p:sp>
      <p:sp>
        <p:nvSpPr>
          <p:cNvPr id="23" name="Text 20"/>
          <p:cNvSpPr/>
          <p:nvPr/>
        </p:nvSpPr>
        <p:spPr>
          <a:xfrm>
            <a:off x="9747504" y="3913632"/>
            <a:ext cx="1499616" cy="237744"/>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Recall</a:t>
            </a:r>
            <a:endParaRPr lang="en-US" sz="1100" dirty="0"/>
          </a:p>
        </p:txBody>
      </p:sp>
      <p:sp>
        <p:nvSpPr>
          <p:cNvPr id="24" name="Shape 21"/>
          <p:cNvSpPr/>
          <p:nvPr/>
        </p:nvSpPr>
        <p:spPr>
          <a:xfrm>
            <a:off x="822960" y="4224528"/>
            <a:ext cx="10515600" cy="384048"/>
          </a:xfrm>
          <a:prstGeom prst="rect">
            <a:avLst/>
          </a:prstGeom>
          <a:solidFill>
            <a:srgbClr val="FFFFFF"/>
          </a:solidFill>
          <a:ln w="12700">
            <a:solidFill>
              <a:srgbClr val="E5E7EB"/>
            </a:solidFill>
            <a:prstDash val="solid"/>
          </a:ln>
        </p:spPr>
        <p:txBody>
          <a:bodyPr/>
          <a:lstStyle/>
          <a:p>
            <a:endParaRPr lang="en-US"/>
          </a:p>
        </p:txBody>
      </p:sp>
      <p:sp>
        <p:nvSpPr>
          <p:cNvPr id="25" name="Text 22"/>
          <p:cNvSpPr/>
          <p:nvPr/>
        </p:nvSpPr>
        <p:spPr>
          <a:xfrm>
            <a:off x="914400" y="4297680"/>
            <a:ext cx="360273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GradientBoosting</a:t>
            </a:r>
            <a:endParaRPr lang="en-US" sz="1100" dirty="0"/>
          </a:p>
        </p:txBody>
      </p:sp>
      <p:sp>
        <p:nvSpPr>
          <p:cNvPr id="26" name="Text 23"/>
          <p:cNvSpPr/>
          <p:nvPr/>
        </p:nvSpPr>
        <p:spPr>
          <a:xfrm>
            <a:off x="4700016" y="4297680"/>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0.919</a:t>
            </a:r>
            <a:endParaRPr lang="en-US" sz="1100" dirty="0"/>
          </a:p>
        </p:txBody>
      </p:sp>
      <p:sp>
        <p:nvSpPr>
          <p:cNvPr id="27" name="Text 24"/>
          <p:cNvSpPr/>
          <p:nvPr/>
        </p:nvSpPr>
        <p:spPr>
          <a:xfrm>
            <a:off x="6382512" y="4297680"/>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0.788</a:t>
            </a:r>
            <a:endParaRPr lang="en-US" sz="1100" dirty="0"/>
          </a:p>
        </p:txBody>
      </p:sp>
      <p:sp>
        <p:nvSpPr>
          <p:cNvPr id="28" name="Text 25"/>
          <p:cNvSpPr/>
          <p:nvPr/>
        </p:nvSpPr>
        <p:spPr>
          <a:xfrm>
            <a:off x="8065008" y="4297680"/>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0.858</a:t>
            </a:r>
            <a:endParaRPr lang="en-US" sz="1100" dirty="0"/>
          </a:p>
        </p:txBody>
      </p:sp>
      <p:sp>
        <p:nvSpPr>
          <p:cNvPr id="29" name="Text 26"/>
          <p:cNvSpPr/>
          <p:nvPr/>
        </p:nvSpPr>
        <p:spPr>
          <a:xfrm>
            <a:off x="9747504" y="4297680"/>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0.729</a:t>
            </a:r>
            <a:endParaRPr lang="en-US" sz="1100" dirty="0"/>
          </a:p>
        </p:txBody>
      </p:sp>
      <p:sp>
        <p:nvSpPr>
          <p:cNvPr id="30" name="Shape 27"/>
          <p:cNvSpPr/>
          <p:nvPr/>
        </p:nvSpPr>
        <p:spPr>
          <a:xfrm>
            <a:off x="822960" y="4608576"/>
            <a:ext cx="10515600" cy="384048"/>
          </a:xfrm>
          <a:prstGeom prst="rect">
            <a:avLst/>
          </a:prstGeom>
          <a:solidFill>
            <a:srgbClr val="FAFAFA"/>
          </a:solidFill>
          <a:ln w="12700">
            <a:solidFill>
              <a:srgbClr val="E5E7EB"/>
            </a:solidFill>
            <a:prstDash val="solid"/>
          </a:ln>
        </p:spPr>
        <p:txBody>
          <a:bodyPr/>
          <a:lstStyle/>
          <a:p>
            <a:endParaRPr lang="en-US"/>
          </a:p>
        </p:txBody>
      </p:sp>
      <p:sp>
        <p:nvSpPr>
          <p:cNvPr id="31" name="Text 28"/>
          <p:cNvSpPr/>
          <p:nvPr/>
        </p:nvSpPr>
        <p:spPr>
          <a:xfrm>
            <a:off x="914400" y="4681728"/>
            <a:ext cx="360273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LogisticRegression</a:t>
            </a:r>
            <a:endParaRPr lang="en-US" sz="1100" dirty="0"/>
          </a:p>
        </p:txBody>
      </p:sp>
      <p:sp>
        <p:nvSpPr>
          <p:cNvPr id="32" name="Text 29"/>
          <p:cNvSpPr/>
          <p:nvPr/>
        </p:nvSpPr>
        <p:spPr>
          <a:xfrm>
            <a:off x="4700016" y="4681728"/>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0.914</a:t>
            </a:r>
            <a:endParaRPr lang="en-US" sz="1100" dirty="0"/>
          </a:p>
        </p:txBody>
      </p:sp>
      <p:sp>
        <p:nvSpPr>
          <p:cNvPr id="33" name="Text 30"/>
          <p:cNvSpPr/>
          <p:nvPr/>
        </p:nvSpPr>
        <p:spPr>
          <a:xfrm>
            <a:off x="6382512" y="4681728"/>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0.778</a:t>
            </a:r>
            <a:endParaRPr lang="en-US" sz="1100" dirty="0"/>
          </a:p>
        </p:txBody>
      </p:sp>
      <p:sp>
        <p:nvSpPr>
          <p:cNvPr id="34" name="Text 31"/>
          <p:cNvSpPr/>
          <p:nvPr/>
        </p:nvSpPr>
        <p:spPr>
          <a:xfrm>
            <a:off x="8065008" y="4681728"/>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0.852</a:t>
            </a:r>
            <a:endParaRPr lang="en-US" sz="1100" dirty="0"/>
          </a:p>
        </p:txBody>
      </p:sp>
      <p:sp>
        <p:nvSpPr>
          <p:cNvPr id="35" name="Text 32"/>
          <p:cNvSpPr/>
          <p:nvPr/>
        </p:nvSpPr>
        <p:spPr>
          <a:xfrm>
            <a:off x="9747504" y="4681728"/>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0.717</a:t>
            </a:r>
            <a:endParaRPr lang="en-US" sz="1100" dirty="0"/>
          </a:p>
        </p:txBody>
      </p:sp>
      <p:sp>
        <p:nvSpPr>
          <p:cNvPr id="36" name="Shape 33"/>
          <p:cNvSpPr/>
          <p:nvPr/>
        </p:nvSpPr>
        <p:spPr>
          <a:xfrm>
            <a:off x="822960" y="4992624"/>
            <a:ext cx="10515600" cy="384048"/>
          </a:xfrm>
          <a:prstGeom prst="rect">
            <a:avLst/>
          </a:prstGeom>
          <a:solidFill>
            <a:srgbClr val="FFFFFF"/>
          </a:solidFill>
          <a:ln w="12700">
            <a:solidFill>
              <a:srgbClr val="E5E7EB"/>
            </a:solidFill>
            <a:prstDash val="solid"/>
          </a:ln>
        </p:spPr>
        <p:txBody>
          <a:bodyPr/>
          <a:lstStyle/>
          <a:p>
            <a:endParaRPr lang="en-US"/>
          </a:p>
        </p:txBody>
      </p:sp>
      <p:sp>
        <p:nvSpPr>
          <p:cNvPr id="37" name="Text 34"/>
          <p:cNvSpPr/>
          <p:nvPr/>
        </p:nvSpPr>
        <p:spPr>
          <a:xfrm>
            <a:off x="914400" y="5065776"/>
            <a:ext cx="360273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RandomForest</a:t>
            </a:r>
            <a:endParaRPr lang="en-US" sz="1100" dirty="0"/>
          </a:p>
        </p:txBody>
      </p:sp>
      <p:sp>
        <p:nvSpPr>
          <p:cNvPr id="38" name="Text 35"/>
          <p:cNvSpPr/>
          <p:nvPr/>
        </p:nvSpPr>
        <p:spPr>
          <a:xfrm>
            <a:off x="4700016" y="5065776"/>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0.914</a:t>
            </a:r>
            <a:endParaRPr lang="en-US" sz="1100" dirty="0"/>
          </a:p>
        </p:txBody>
      </p:sp>
      <p:sp>
        <p:nvSpPr>
          <p:cNvPr id="39" name="Text 36"/>
          <p:cNvSpPr/>
          <p:nvPr/>
        </p:nvSpPr>
        <p:spPr>
          <a:xfrm>
            <a:off x="6382512" y="5065776"/>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0.781</a:t>
            </a:r>
            <a:endParaRPr lang="en-US" sz="1100" dirty="0"/>
          </a:p>
        </p:txBody>
      </p:sp>
      <p:sp>
        <p:nvSpPr>
          <p:cNvPr id="40" name="Text 37"/>
          <p:cNvSpPr/>
          <p:nvPr/>
        </p:nvSpPr>
        <p:spPr>
          <a:xfrm>
            <a:off x="8065008" y="5065776"/>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0.864</a:t>
            </a:r>
            <a:endParaRPr lang="en-US" sz="1100" dirty="0"/>
          </a:p>
        </p:txBody>
      </p:sp>
      <p:sp>
        <p:nvSpPr>
          <p:cNvPr id="41" name="Text 38"/>
          <p:cNvSpPr/>
          <p:nvPr/>
        </p:nvSpPr>
        <p:spPr>
          <a:xfrm>
            <a:off x="9747504" y="5065776"/>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0.713</a:t>
            </a:r>
            <a:endParaRPr lang="en-US" sz="1100" dirty="0"/>
          </a:p>
        </p:txBody>
      </p:sp>
      <p:sp>
        <p:nvSpPr>
          <p:cNvPr id="42" name="Shape 39"/>
          <p:cNvSpPr/>
          <p:nvPr/>
        </p:nvSpPr>
        <p:spPr>
          <a:xfrm>
            <a:off x="822960" y="5376672"/>
            <a:ext cx="10515600" cy="384048"/>
          </a:xfrm>
          <a:prstGeom prst="rect">
            <a:avLst/>
          </a:prstGeom>
          <a:solidFill>
            <a:srgbClr val="FAFAFA"/>
          </a:solidFill>
          <a:ln w="12700">
            <a:solidFill>
              <a:srgbClr val="E5E7EB"/>
            </a:solidFill>
            <a:prstDash val="solid"/>
          </a:ln>
        </p:spPr>
        <p:txBody>
          <a:bodyPr/>
          <a:lstStyle/>
          <a:p>
            <a:endParaRPr lang="en-US"/>
          </a:p>
        </p:txBody>
      </p:sp>
      <p:sp>
        <p:nvSpPr>
          <p:cNvPr id="43" name="Text 40"/>
          <p:cNvSpPr/>
          <p:nvPr/>
        </p:nvSpPr>
        <p:spPr>
          <a:xfrm>
            <a:off x="914400" y="5449824"/>
            <a:ext cx="360273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SVM_RBF</a:t>
            </a:r>
            <a:endParaRPr lang="en-US" sz="1100" dirty="0"/>
          </a:p>
        </p:txBody>
      </p:sp>
      <p:sp>
        <p:nvSpPr>
          <p:cNvPr id="44" name="Text 41"/>
          <p:cNvSpPr/>
          <p:nvPr/>
        </p:nvSpPr>
        <p:spPr>
          <a:xfrm>
            <a:off x="4700016" y="5449824"/>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0.908</a:t>
            </a:r>
            <a:endParaRPr lang="en-US" sz="1100" dirty="0"/>
          </a:p>
        </p:txBody>
      </p:sp>
      <p:sp>
        <p:nvSpPr>
          <p:cNvPr id="45" name="Text 42"/>
          <p:cNvSpPr/>
          <p:nvPr/>
        </p:nvSpPr>
        <p:spPr>
          <a:xfrm>
            <a:off x="6382512" y="5449824"/>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0.758</a:t>
            </a:r>
            <a:endParaRPr lang="en-US" sz="1100" dirty="0"/>
          </a:p>
        </p:txBody>
      </p:sp>
      <p:sp>
        <p:nvSpPr>
          <p:cNvPr id="46" name="Text 43"/>
          <p:cNvSpPr/>
          <p:nvPr/>
        </p:nvSpPr>
        <p:spPr>
          <a:xfrm>
            <a:off x="8065008" y="5449824"/>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0.889</a:t>
            </a:r>
            <a:endParaRPr lang="en-US" sz="1100" dirty="0"/>
          </a:p>
        </p:txBody>
      </p:sp>
      <p:sp>
        <p:nvSpPr>
          <p:cNvPr id="47" name="Text 44"/>
          <p:cNvSpPr/>
          <p:nvPr/>
        </p:nvSpPr>
        <p:spPr>
          <a:xfrm>
            <a:off x="9747504" y="5449824"/>
            <a:ext cx="1499616" cy="237744"/>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0.661</a:t>
            </a:r>
            <a:endParaRPr lang="en-US" sz="1100" dirty="0"/>
          </a:p>
        </p:txBody>
      </p:sp>
      <p:sp>
        <p:nvSpPr>
          <p:cNvPr id="48" name="Shape 45"/>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49" name="Text 46"/>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4</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Hyperparameter Tuning &amp; Final Model Selection</a:t>
            </a:r>
            <a:endParaRPr lang="en-US" sz="2000" dirty="0"/>
          </a:p>
        </p:txBody>
      </p:sp>
      <p:sp>
        <p:nvSpPr>
          <p:cNvPr id="6" name="Shape 4"/>
          <p:cNvSpPr/>
          <p:nvPr/>
        </p:nvSpPr>
        <p:spPr>
          <a:xfrm>
            <a:off x="640080" y="960120"/>
            <a:ext cx="5577840" cy="2423160"/>
          </a:xfrm>
          <a:prstGeom prst="roundRect">
            <a:avLst/>
          </a:prstGeom>
          <a:solidFill>
            <a:srgbClr val="FFFFFF"/>
          </a:solidFill>
          <a:ln w="12700">
            <a:solidFill>
              <a:schemeClr val="accent1"/>
            </a:solidFill>
            <a:prstDash val="solid"/>
          </a:ln>
          <a:effectLst>
            <a:outerShdw blurRad="25400" dist="19050" dir="2700000" algn="bl" rotWithShape="0">
              <a:srgbClr val="000000">
                <a:alpha val="14000"/>
              </a:srgbClr>
            </a:outerShdw>
          </a:effectLst>
        </p:spPr>
        <p:txBody>
          <a:bodyPr/>
          <a:lstStyle/>
          <a:p>
            <a:endParaRPr lang="en-US"/>
          </a:p>
        </p:txBody>
      </p:sp>
      <p:sp>
        <p:nvSpPr>
          <p:cNvPr id="7" name="Shape 5"/>
          <p:cNvSpPr/>
          <p:nvPr/>
        </p:nvSpPr>
        <p:spPr>
          <a:xfrm>
            <a:off x="640080" y="960120"/>
            <a:ext cx="73152" cy="2423160"/>
          </a:xfrm>
          <a:prstGeom prst="rect">
            <a:avLst/>
          </a:prstGeom>
          <a:solidFill>
            <a:srgbClr val="1F77B4"/>
          </a:solidFill>
          <a:ln w="12700">
            <a:solidFill>
              <a:srgbClr val="1F77B4"/>
            </a:solidFill>
            <a:prstDash val="solid"/>
          </a:ln>
        </p:spPr>
        <p:txBody>
          <a:bodyPr/>
          <a:lstStyle/>
          <a:p>
            <a:endParaRPr lang="en-US"/>
          </a:p>
        </p:txBody>
      </p:sp>
      <p:sp>
        <p:nvSpPr>
          <p:cNvPr id="8" name="Text 6"/>
          <p:cNvSpPr/>
          <p:nvPr/>
        </p:nvSpPr>
        <p:spPr>
          <a:xfrm>
            <a:off x="804672" y="1124712"/>
            <a:ext cx="524865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Shortlisting rationale</a:t>
            </a:r>
            <a:endParaRPr lang="en-US" sz="1400" dirty="0"/>
          </a:p>
        </p:txBody>
      </p:sp>
      <p:sp>
        <p:nvSpPr>
          <p:cNvPr id="9" name="Text 7"/>
          <p:cNvSpPr/>
          <p:nvPr/>
        </p:nvSpPr>
        <p:spPr>
          <a:xfrm>
            <a:off x="804672" y="1463040"/>
            <a:ext cx="5248656" cy="178308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CV results were competitive across models (AUC ~0.91).</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Shortlisted for tuning: Logistic Regression (baseline) and Random Forest (non-linear).</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GridSearchCV optimized ROC-AUC with 5-fold stratified CV.</a:t>
            </a:r>
            <a:endParaRPr lang="en-US" sz="1200" dirty="0"/>
          </a:p>
        </p:txBody>
      </p:sp>
      <p:sp>
        <p:nvSpPr>
          <p:cNvPr id="10" name="Shape 8"/>
          <p:cNvSpPr/>
          <p:nvPr/>
        </p:nvSpPr>
        <p:spPr>
          <a:xfrm>
            <a:off x="6446520" y="960120"/>
            <a:ext cx="5074920" cy="2423160"/>
          </a:xfrm>
          <a:prstGeom prst="roundRect">
            <a:avLst/>
          </a:prstGeom>
          <a:solidFill>
            <a:srgbClr val="FFFFFF"/>
          </a:solidFill>
          <a:ln w="12700">
            <a:solidFill>
              <a:schemeClr val="accent2"/>
            </a:solidFill>
            <a:prstDash val="solid"/>
          </a:ln>
          <a:effectLst>
            <a:outerShdw blurRad="25400" dist="19050" dir="2700000" algn="bl" rotWithShape="0">
              <a:srgbClr val="000000">
                <a:alpha val="14000"/>
              </a:srgbClr>
            </a:outerShdw>
          </a:effectLst>
        </p:spPr>
        <p:txBody>
          <a:bodyPr/>
          <a:lstStyle/>
          <a:p>
            <a:endParaRPr lang="en-US"/>
          </a:p>
        </p:txBody>
      </p:sp>
      <p:sp>
        <p:nvSpPr>
          <p:cNvPr id="11" name="Shape 9"/>
          <p:cNvSpPr/>
          <p:nvPr/>
        </p:nvSpPr>
        <p:spPr>
          <a:xfrm>
            <a:off x="6446520" y="960120"/>
            <a:ext cx="73152" cy="2423160"/>
          </a:xfrm>
          <a:prstGeom prst="rect">
            <a:avLst/>
          </a:prstGeom>
          <a:solidFill>
            <a:srgbClr val="F28E2B"/>
          </a:solidFill>
          <a:ln w="12700">
            <a:solidFill>
              <a:srgbClr val="F28E2B"/>
            </a:solidFill>
            <a:prstDash val="solid"/>
          </a:ln>
        </p:spPr>
        <p:txBody>
          <a:bodyPr/>
          <a:lstStyle/>
          <a:p>
            <a:endParaRPr lang="en-US"/>
          </a:p>
        </p:txBody>
      </p:sp>
      <p:sp>
        <p:nvSpPr>
          <p:cNvPr id="12" name="Text 10"/>
          <p:cNvSpPr/>
          <p:nvPr/>
        </p:nvSpPr>
        <p:spPr>
          <a:xfrm>
            <a:off x="6611112" y="1124712"/>
            <a:ext cx="474573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Best hyperparameters (examples)</a:t>
            </a:r>
            <a:endParaRPr lang="en-US" sz="1400" dirty="0"/>
          </a:p>
        </p:txBody>
      </p:sp>
      <p:sp>
        <p:nvSpPr>
          <p:cNvPr id="13" name="Text 11"/>
          <p:cNvSpPr/>
          <p:nvPr/>
        </p:nvSpPr>
        <p:spPr>
          <a:xfrm>
            <a:off x="6611112" y="1463040"/>
            <a:ext cx="4745736" cy="178308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LogReg: C=0.1, penalty=L2, solver=lbfgs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RF: n_estimators=200, max_depth=None, min_samples_split=10, min_samples_leaf=1</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Selected final model: Random Forest (slightly higher AUC and robust interactions)</a:t>
            </a:r>
            <a:endParaRPr lang="en-US" sz="1200" dirty="0"/>
          </a:p>
        </p:txBody>
      </p:sp>
      <p:sp>
        <p:nvSpPr>
          <p:cNvPr id="14" name="Shape 12"/>
          <p:cNvSpPr/>
          <p:nvPr/>
        </p:nvSpPr>
        <p:spPr>
          <a:xfrm>
            <a:off x="640080" y="3611880"/>
            <a:ext cx="10881360" cy="269748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15" name="Text 13"/>
          <p:cNvSpPr/>
          <p:nvPr/>
        </p:nvSpPr>
        <p:spPr>
          <a:xfrm>
            <a:off x="822960" y="3794760"/>
            <a:ext cx="1051560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Held-out test performance (tuned models)</a:t>
            </a:r>
            <a:endParaRPr lang="en-US" sz="1400" dirty="0"/>
          </a:p>
        </p:txBody>
      </p:sp>
      <p:graphicFrame>
        <p:nvGraphicFramePr>
          <p:cNvPr id="16" name="Chart 0"/>
          <p:cNvGraphicFramePr/>
          <p:nvPr/>
        </p:nvGraphicFramePr>
        <p:xfrm>
          <a:off x="868680" y="4160520"/>
          <a:ext cx="566928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6547588" y="4160520"/>
            <a:ext cx="4800600" cy="457200"/>
          </a:xfrm>
          <a:prstGeom prst="rect">
            <a:avLst/>
          </a:prstGeom>
          <a:solidFill>
            <a:srgbClr val="F3F4F6"/>
          </a:solidFill>
          <a:ln w="12700">
            <a:solidFill>
              <a:srgbClr val="E5E7EB"/>
            </a:solidFill>
            <a:prstDash val="solid"/>
          </a:ln>
        </p:spPr>
        <p:txBody>
          <a:bodyPr/>
          <a:lstStyle/>
          <a:p>
            <a:endParaRPr lang="en-US"/>
          </a:p>
        </p:txBody>
      </p:sp>
      <p:sp>
        <p:nvSpPr>
          <p:cNvPr id="18" name="Text 15"/>
          <p:cNvSpPr/>
          <p:nvPr/>
        </p:nvSpPr>
        <p:spPr>
          <a:xfrm>
            <a:off x="6657316" y="4270248"/>
            <a:ext cx="2468880" cy="274320"/>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Model</a:t>
            </a:r>
            <a:endParaRPr lang="en-US" sz="1100" dirty="0"/>
          </a:p>
        </p:txBody>
      </p:sp>
      <p:sp>
        <p:nvSpPr>
          <p:cNvPr id="19" name="Text 16"/>
          <p:cNvSpPr/>
          <p:nvPr/>
        </p:nvSpPr>
        <p:spPr>
          <a:xfrm>
            <a:off x="9153628" y="4270248"/>
            <a:ext cx="640080" cy="274320"/>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F1</a:t>
            </a:r>
            <a:endParaRPr lang="en-US" sz="1100" dirty="0"/>
          </a:p>
        </p:txBody>
      </p:sp>
      <p:sp>
        <p:nvSpPr>
          <p:cNvPr id="20" name="Text 17"/>
          <p:cNvSpPr/>
          <p:nvPr/>
        </p:nvSpPr>
        <p:spPr>
          <a:xfrm>
            <a:off x="9793708" y="4270248"/>
            <a:ext cx="731520" cy="274320"/>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Prec</a:t>
            </a:r>
            <a:endParaRPr lang="en-US" sz="1100" dirty="0"/>
          </a:p>
        </p:txBody>
      </p:sp>
      <p:sp>
        <p:nvSpPr>
          <p:cNvPr id="21" name="Text 18"/>
          <p:cNvSpPr/>
          <p:nvPr/>
        </p:nvSpPr>
        <p:spPr>
          <a:xfrm>
            <a:off x="10479508" y="4270248"/>
            <a:ext cx="731520" cy="274320"/>
          </a:xfrm>
          <a:prstGeom prst="rect">
            <a:avLst/>
          </a:prstGeom>
          <a:noFill/>
          <a:ln/>
        </p:spPr>
        <p:txBody>
          <a:bodyPr wrap="square" rtlCol="0" anchor="ctr"/>
          <a:lstStyle/>
          <a:p>
            <a:pPr marL="0" indent="0">
              <a:buNone/>
            </a:pPr>
            <a:r>
              <a:rPr lang="en-US" sz="1100" b="1" dirty="0">
                <a:solidFill>
                  <a:srgbClr val="111827"/>
                </a:solidFill>
                <a:latin typeface="Calibri" pitchFamily="34" charset="0"/>
                <a:ea typeface="Calibri" pitchFamily="34" charset="-122"/>
                <a:cs typeface="Calibri" pitchFamily="34" charset="-120"/>
              </a:rPr>
              <a:t>Rec</a:t>
            </a:r>
            <a:endParaRPr lang="en-US" sz="1100" dirty="0"/>
          </a:p>
        </p:txBody>
      </p:sp>
      <p:sp>
        <p:nvSpPr>
          <p:cNvPr id="22" name="Shape 19"/>
          <p:cNvSpPr/>
          <p:nvPr/>
        </p:nvSpPr>
        <p:spPr>
          <a:xfrm>
            <a:off x="6547588" y="4617720"/>
            <a:ext cx="4800600" cy="457200"/>
          </a:xfrm>
          <a:prstGeom prst="rect">
            <a:avLst/>
          </a:prstGeom>
          <a:solidFill>
            <a:srgbClr val="FFFFFF"/>
          </a:solidFill>
          <a:ln w="12700">
            <a:solidFill>
              <a:srgbClr val="E5E7EB"/>
            </a:solidFill>
            <a:prstDash val="solid"/>
          </a:ln>
        </p:spPr>
        <p:txBody>
          <a:bodyPr/>
          <a:lstStyle/>
          <a:p>
            <a:endParaRPr lang="en-US"/>
          </a:p>
        </p:txBody>
      </p:sp>
      <p:sp>
        <p:nvSpPr>
          <p:cNvPr id="23" name="Text 20"/>
          <p:cNvSpPr/>
          <p:nvPr/>
        </p:nvSpPr>
        <p:spPr>
          <a:xfrm>
            <a:off x="6657316" y="4727448"/>
            <a:ext cx="2468880" cy="27432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LogisticRegression</a:t>
            </a:r>
            <a:endParaRPr lang="en-US" sz="1100" dirty="0"/>
          </a:p>
        </p:txBody>
      </p:sp>
      <p:sp>
        <p:nvSpPr>
          <p:cNvPr id="24" name="Text 21"/>
          <p:cNvSpPr/>
          <p:nvPr/>
        </p:nvSpPr>
        <p:spPr>
          <a:xfrm>
            <a:off x="9153628" y="4727448"/>
            <a:ext cx="640080" cy="27432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0.798</a:t>
            </a:r>
            <a:endParaRPr lang="en-US" sz="1100" dirty="0"/>
          </a:p>
        </p:txBody>
      </p:sp>
      <p:sp>
        <p:nvSpPr>
          <p:cNvPr id="25" name="Text 22"/>
          <p:cNvSpPr/>
          <p:nvPr/>
        </p:nvSpPr>
        <p:spPr>
          <a:xfrm>
            <a:off x="9793708" y="4727448"/>
            <a:ext cx="731520" cy="27432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0.899</a:t>
            </a:r>
            <a:endParaRPr lang="en-US" sz="1100" dirty="0"/>
          </a:p>
        </p:txBody>
      </p:sp>
      <p:sp>
        <p:nvSpPr>
          <p:cNvPr id="26" name="Text 23"/>
          <p:cNvSpPr/>
          <p:nvPr/>
        </p:nvSpPr>
        <p:spPr>
          <a:xfrm>
            <a:off x="10479508" y="4727448"/>
            <a:ext cx="731520" cy="27432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0.718</a:t>
            </a:r>
            <a:endParaRPr lang="en-US" sz="1100" dirty="0"/>
          </a:p>
        </p:txBody>
      </p:sp>
      <p:sp>
        <p:nvSpPr>
          <p:cNvPr id="27" name="Shape 24"/>
          <p:cNvSpPr/>
          <p:nvPr/>
        </p:nvSpPr>
        <p:spPr>
          <a:xfrm>
            <a:off x="6547588" y="5074920"/>
            <a:ext cx="4800600" cy="457200"/>
          </a:xfrm>
          <a:prstGeom prst="rect">
            <a:avLst/>
          </a:prstGeom>
          <a:solidFill>
            <a:srgbClr val="FAFAFA"/>
          </a:solidFill>
          <a:ln w="12700">
            <a:solidFill>
              <a:srgbClr val="E5E7EB"/>
            </a:solidFill>
            <a:prstDash val="solid"/>
          </a:ln>
        </p:spPr>
        <p:txBody>
          <a:bodyPr/>
          <a:lstStyle/>
          <a:p>
            <a:endParaRPr lang="en-US"/>
          </a:p>
        </p:txBody>
      </p:sp>
      <p:sp>
        <p:nvSpPr>
          <p:cNvPr id="28" name="Text 25"/>
          <p:cNvSpPr/>
          <p:nvPr/>
        </p:nvSpPr>
        <p:spPr>
          <a:xfrm>
            <a:off x="6657316" y="5184648"/>
            <a:ext cx="2468880" cy="27432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RandomForest</a:t>
            </a:r>
            <a:endParaRPr lang="en-US" sz="1100" dirty="0"/>
          </a:p>
        </p:txBody>
      </p:sp>
      <p:sp>
        <p:nvSpPr>
          <p:cNvPr id="29" name="Text 26"/>
          <p:cNvSpPr/>
          <p:nvPr/>
        </p:nvSpPr>
        <p:spPr>
          <a:xfrm>
            <a:off x="9153628" y="5184648"/>
            <a:ext cx="640080" cy="27432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0.802</a:t>
            </a:r>
            <a:endParaRPr lang="en-US" sz="1100" dirty="0"/>
          </a:p>
        </p:txBody>
      </p:sp>
      <p:sp>
        <p:nvSpPr>
          <p:cNvPr id="30" name="Text 27"/>
          <p:cNvSpPr/>
          <p:nvPr/>
        </p:nvSpPr>
        <p:spPr>
          <a:xfrm>
            <a:off x="9793708" y="5184648"/>
            <a:ext cx="731520" cy="27432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0.892</a:t>
            </a:r>
            <a:endParaRPr lang="en-US" sz="1100" dirty="0"/>
          </a:p>
        </p:txBody>
      </p:sp>
      <p:sp>
        <p:nvSpPr>
          <p:cNvPr id="31" name="Text 28"/>
          <p:cNvSpPr/>
          <p:nvPr/>
        </p:nvSpPr>
        <p:spPr>
          <a:xfrm>
            <a:off x="10479508" y="5184648"/>
            <a:ext cx="731520" cy="27432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0.729</a:t>
            </a:r>
            <a:endParaRPr lang="en-US" sz="1100" dirty="0"/>
          </a:p>
        </p:txBody>
      </p:sp>
      <p:sp>
        <p:nvSpPr>
          <p:cNvPr id="32" name="Shape 29"/>
          <p:cNvSpPr/>
          <p:nvPr/>
        </p:nvSpPr>
        <p:spPr>
          <a:xfrm>
            <a:off x="6547588" y="5596128"/>
            <a:ext cx="4800600" cy="576072"/>
          </a:xfrm>
          <a:prstGeom prst="rect">
            <a:avLst/>
          </a:prstGeom>
          <a:solidFill>
            <a:srgbClr val="F0FDFA"/>
          </a:solidFill>
          <a:ln w="12700">
            <a:solidFill>
              <a:srgbClr val="99F6E4"/>
            </a:solidFill>
            <a:prstDash val="solid"/>
          </a:ln>
        </p:spPr>
        <p:txBody>
          <a:bodyPr/>
          <a:lstStyle/>
          <a:p>
            <a:endParaRPr lang="en-US"/>
          </a:p>
        </p:txBody>
      </p:sp>
      <p:sp>
        <p:nvSpPr>
          <p:cNvPr id="33" name="Text 30"/>
          <p:cNvSpPr/>
          <p:nvPr/>
        </p:nvSpPr>
        <p:spPr>
          <a:xfrm>
            <a:off x="6684748" y="5687568"/>
            <a:ext cx="4526280" cy="41148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Artifacts saved: metrics tables + final model (.joblib) for reproducibility and Step 5 auditing.</a:t>
            </a:r>
            <a:endParaRPr lang="en-US" sz="1100" dirty="0"/>
          </a:p>
        </p:txBody>
      </p:sp>
      <p:sp>
        <p:nvSpPr>
          <p:cNvPr id="34" name="Shape 31"/>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35" name="Text 32"/>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5</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Critical Thinking — Explainability &amp; Limitations</a:t>
            </a:r>
            <a:endParaRPr lang="en-US" sz="2000" dirty="0"/>
          </a:p>
        </p:txBody>
      </p:sp>
      <p:sp>
        <p:nvSpPr>
          <p:cNvPr id="6" name="Shape 4"/>
          <p:cNvSpPr/>
          <p:nvPr/>
        </p:nvSpPr>
        <p:spPr>
          <a:xfrm>
            <a:off x="640080" y="960120"/>
            <a:ext cx="5440680" cy="2423160"/>
          </a:xfrm>
          <a:prstGeom prst="roundRect">
            <a:avLst/>
          </a:prstGeom>
          <a:solidFill>
            <a:srgbClr val="FFFFFF"/>
          </a:solidFill>
          <a:ln w="12700">
            <a:solidFill>
              <a:schemeClr val="accent1"/>
            </a:solidFill>
            <a:prstDash val="solid"/>
          </a:ln>
          <a:effectLst>
            <a:outerShdw blurRad="25400" dist="19050" dir="2700000" algn="bl" rotWithShape="0">
              <a:srgbClr val="000000">
                <a:alpha val="14000"/>
              </a:srgbClr>
            </a:outerShdw>
          </a:effectLst>
        </p:spPr>
        <p:txBody>
          <a:bodyPr/>
          <a:lstStyle/>
          <a:p>
            <a:endParaRPr lang="en-US"/>
          </a:p>
        </p:txBody>
      </p:sp>
      <p:sp>
        <p:nvSpPr>
          <p:cNvPr id="7" name="Shape 5"/>
          <p:cNvSpPr/>
          <p:nvPr/>
        </p:nvSpPr>
        <p:spPr>
          <a:xfrm>
            <a:off x="640080" y="960120"/>
            <a:ext cx="73152" cy="2423160"/>
          </a:xfrm>
          <a:prstGeom prst="rect">
            <a:avLst/>
          </a:prstGeom>
          <a:solidFill>
            <a:srgbClr val="1F77B4"/>
          </a:solidFill>
          <a:ln w="12700">
            <a:solidFill>
              <a:srgbClr val="1F77B4"/>
            </a:solidFill>
            <a:prstDash val="solid"/>
          </a:ln>
        </p:spPr>
        <p:txBody>
          <a:bodyPr/>
          <a:lstStyle/>
          <a:p>
            <a:endParaRPr lang="en-US"/>
          </a:p>
        </p:txBody>
      </p:sp>
      <p:sp>
        <p:nvSpPr>
          <p:cNvPr id="8" name="Text 6"/>
          <p:cNvSpPr/>
          <p:nvPr/>
        </p:nvSpPr>
        <p:spPr>
          <a:xfrm>
            <a:off x="804672" y="1124712"/>
            <a:ext cx="511149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Explainability approach</a:t>
            </a:r>
            <a:endParaRPr lang="en-US" sz="1400" dirty="0"/>
          </a:p>
        </p:txBody>
      </p:sp>
      <p:sp>
        <p:nvSpPr>
          <p:cNvPr id="9" name="Text 7"/>
          <p:cNvSpPr/>
          <p:nvPr/>
        </p:nvSpPr>
        <p:spPr>
          <a:xfrm>
            <a:off x="804672" y="1463040"/>
            <a:ext cx="5111496" cy="178308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Global: compare L1-logistic coefficients (sparse) vs. RF behavior.</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Local: explain individual risk scores using SHAP (TreeExplainer) where feasible.</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Operational: communicate drivers as “actionable factors” to advisors (not deterministic causes).</a:t>
            </a:r>
            <a:endParaRPr lang="en-US" sz="1200" dirty="0"/>
          </a:p>
        </p:txBody>
      </p:sp>
      <p:sp>
        <p:nvSpPr>
          <p:cNvPr id="10" name="Shape 8"/>
          <p:cNvSpPr/>
          <p:nvPr/>
        </p:nvSpPr>
        <p:spPr>
          <a:xfrm>
            <a:off x="6263640" y="960120"/>
            <a:ext cx="5257800" cy="2423160"/>
          </a:xfrm>
          <a:prstGeom prst="roundRect">
            <a:avLst/>
          </a:prstGeom>
          <a:solidFill>
            <a:srgbClr val="FFFFFF"/>
          </a:solidFill>
          <a:ln w="12700">
            <a:solidFill>
              <a:schemeClr val="accent2"/>
            </a:solidFill>
            <a:prstDash val="solid"/>
          </a:ln>
          <a:effectLst>
            <a:outerShdw blurRad="25400" dist="19050" dir="2700000" algn="bl" rotWithShape="0">
              <a:srgbClr val="000000">
                <a:alpha val="14000"/>
              </a:srgbClr>
            </a:outerShdw>
          </a:effectLst>
        </p:spPr>
        <p:txBody>
          <a:bodyPr/>
          <a:lstStyle/>
          <a:p>
            <a:endParaRPr lang="en-US"/>
          </a:p>
        </p:txBody>
      </p:sp>
      <p:sp>
        <p:nvSpPr>
          <p:cNvPr id="11" name="Shape 9"/>
          <p:cNvSpPr/>
          <p:nvPr/>
        </p:nvSpPr>
        <p:spPr>
          <a:xfrm>
            <a:off x="6263640" y="960120"/>
            <a:ext cx="73152" cy="2423160"/>
          </a:xfrm>
          <a:prstGeom prst="rect">
            <a:avLst/>
          </a:prstGeom>
          <a:solidFill>
            <a:srgbClr val="F28E2B"/>
          </a:solidFill>
          <a:ln w="12700">
            <a:solidFill>
              <a:srgbClr val="F28E2B"/>
            </a:solidFill>
            <a:prstDash val="solid"/>
          </a:ln>
        </p:spPr>
        <p:txBody>
          <a:bodyPr/>
          <a:lstStyle/>
          <a:p>
            <a:endParaRPr lang="en-US"/>
          </a:p>
        </p:txBody>
      </p:sp>
      <p:sp>
        <p:nvSpPr>
          <p:cNvPr id="12" name="Text 10"/>
          <p:cNvSpPr/>
          <p:nvPr/>
        </p:nvSpPr>
        <p:spPr>
          <a:xfrm>
            <a:off x="6428232" y="1124712"/>
            <a:ext cx="4928616"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Key limitations to monitor</a:t>
            </a:r>
            <a:endParaRPr lang="en-US" sz="1400" dirty="0"/>
          </a:p>
        </p:txBody>
      </p:sp>
      <p:sp>
        <p:nvSpPr>
          <p:cNvPr id="13" name="Text 11"/>
          <p:cNvSpPr/>
          <p:nvPr/>
        </p:nvSpPr>
        <p:spPr>
          <a:xfrm>
            <a:off x="6428232" y="1463040"/>
            <a:ext cx="4928616" cy="1783080"/>
          </a:xfrm>
          <a:prstGeom prst="rect">
            <a:avLst/>
          </a:prstGeom>
          <a:noFill/>
          <a:ln/>
        </p:spPr>
        <p:txBody>
          <a:bodyPr wrap="square" rtlCol="0" anchor="t"/>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Dataset shift across cohorts/programs may degrade performance over time.</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Proxy features may encode socioeconomic disadvantage → fairness risks.</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Interventions can create feedback loops (labels may change after policy adoption).</a:t>
            </a:r>
            <a:endParaRPr lang="en-US" sz="1200" dirty="0"/>
          </a:p>
        </p:txBody>
      </p:sp>
      <p:sp>
        <p:nvSpPr>
          <p:cNvPr id="14" name="Shape 12"/>
          <p:cNvSpPr/>
          <p:nvPr/>
        </p:nvSpPr>
        <p:spPr>
          <a:xfrm>
            <a:off x="640080" y="3611880"/>
            <a:ext cx="10881360" cy="2697480"/>
          </a:xfrm>
          <a:prstGeom prst="roundRect">
            <a:avLst/>
          </a:prstGeom>
          <a:solidFill>
            <a:srgbClr val="FFFFFF"/>
          </a:solidFill>
          <a:ln w="12700">
            <a:solidFill>
              <a:schemeClr val="tx1"/>
            </a:solidFill>
            <a:prstDash val="solid"/>
          </a:ln>
          <a:effectLst>
            <a:outerShdw blurRad="25400" dist="12700" dir="2700000" algn="bl" rotWithShape="0">
              <a:srgbClr val="000000">
                <a:alpha val="10000"/>
              </a:srgbClr>
            </a:outerShdw>
          </a:effectLst>
        </p:spPr>
        <p:txBody>
          <a:bodyPr/>
          <a:lstStyle/>
          <a:p>
            <a:endParaRPr lang="en-US"/>
          </a:p>
        </p:txBody>
      </p:sp>
      <p:sp>
        <p:nvSpPr>
          <p:cNvPr id="15" name="Text 13"/>
          <p:cNvSpPr/>
          <p:nvPr/>
        </p:nvSpPr>
        <p:spPr>
          <a:xfrm>
            <a:off x="822960" y="3794760"/>
            <a:ext cx="1051560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Model risk controls (recommended)</a:t>
            </a:r>
            <a:endParaRPr lang="en-US" sz="1400" dirty="0"/>
          </a:p>
        </p:txBody>
      </p:sp>
      <p:sp>
        <p:nvSpPr>
          <p:cNvPr id="16" name="Text 14"/>
          <p:cNvSpPr/>
          <p:nvPr/>
        </p:nvSpPr>
        <p:spPr>
          <a:xfrm>
            <a:off x="868680" y="4160520"/>
            <a:ext cx="10241280" cy="1508760"/>
          </a:xfrm>
          <a:prstGeom prst="rect">
            <a:avLst/>
          </a:prstGeom>
          <a:noFill/>
          <a:ln/>
        </p:spPr>
        <p:txBody>
          <a:bodyPr wrap="square" rtlCol="0" anchor="ctr"/>
          <a:lstStyle/>
          <a:p>
            <a:pPr>
              <a:spcAft>
                <a:spcPts val="400"/>
              </a:spcAft>
              <a:buSzPct val="100000"/>
            </a:pPr>
            <a:r>
              <a:rPr lang="en-US" sz="1200" dirty="0">
                <a:solidFill>
                  <a:srgbClr val="374151"/>
                </a:solidFill>
                <a:latin typeface="Calibri" pitchFamily="34" charset="0"/>
                <a:ea typeface="Calibri" pitchFamily="34" charset="-122"/>
                <a:cs typeface="Calibri" pitchFamily="34" charset="-120"/>
              </a:rPr>
              <a:t>• Validate for leakage (e.g., features that implicitly capture final outcomes)</a:t>
            </a:r>
            <a:endParaRPr lang="en-US" sz="1200" dirty="0"/>
          </a:p>
          <a:p>
            <a:pPr>
              <a:spcAft>
                <a:spcPts val="400"/>
              </a:spcAft>
              <a:buSzPct val="100000"/>
            </a:pPr>
            <a:r>
              <a:rPr lang="en-US" sz="1200" dirty="0">
                <a:solidFill>
                  <a:srgbClr val="374151"/>
                </a:solidFill>
                <a:latin typeface="Calibri" pitchFamily="34" charset="0"/>
                <a:ea typeface="Calibri" pitchFamily="34" charset="-122"/>
                <a:cs typeface="Calibri" pitchFamily="34" charset="-120"/>
              </a:rPr>
              <a:t>• Use stratified monitoring by program and demographic groups</a:t>
            </a:r>
            <a:endParaRPr lang="en-US" sz="1200" dirty="0"/>
          </a:p>
          <a:p>
            <a:pPr>
              <a:spcAft>
                <a:spcPts val="400"/>
              </a:spcAft>
              <a:buSzPct val="100000"/>
            </a:pPr>
            <a:r>
              <a:rPr lang="en-US" sz="1200" dirty="0">
                <a:solidFill>
                  <a:srgbClr val="374151"/>
                </a:solidFill>
                <a:latin typeface="Calibri" pitchFamily="34" charset="0"/>
                <a:ea typeface="Calibri" pitchFamily="34" charset="-122"/>
                <a:cs typeface="Calibri" pitchFamily="34" charset="-120"/>
              </a:rPr>
              <a:t>• Periodic recalibration of thresholds based on capacity and prevalence</a:t>
            </a:r>
            <a:endParaRPr lang="en-US" sz="1200" dirty="0"/>
          </a:p>
          <a:p>
            <a:pPr>
              <a:spcAft>
                <a:spcPts val="400"/>
              </a:spcAft>
              <a:buSzPct val="100000"/>
            </a:pPr>
            <a:r>
              <a:rPr lang="en-US" sz="1200" dirty="0">
                <a:solidFill>
                  <a:srgbClr val="374151"/>
                </a:solidFill>
                <a:latin typeface="Calibri" pitchFamily="34" charset="0"/>
                <a:ea typeface="Calibri" pitchFamily="34" charset="-122"/>
                <a:cs typeface="Calibri" pitchFamily="34" charset="-120"/>
              </a:rPr>
              <a:t>• Document intended use + require human oversight for high-stakes decisions</a:t>
            </a:r>
            <a:endParaRPr lang="en-US" sz="1200" dirty="0"/>
          </a:p>
        </p:txBody>
      </p:sp>
      <p:sp>
        <p:nvSpPr>
          <p:cNvPr id="19" name="Shape 17"/>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20" name="Text 18"/>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E4E"/>
          </a:solidFill>
          <a:ln w="12700">
            <a:solidFill>
              <a:srgbClr val="0B2E4E"/>
            </a:solidFill>
            <a:prstDash val="solid"/>
          </a:ln>
        </p:spPr>
        <p:txBody>
          <a:bodyPr/>
          <a:lstStyle/>
          <a:p>
            <a:endParaRPr lang="en-US"/>
          </a:p>
        </p:txBody>
      </p:sp>
      <p:sp>
        <p:nvSpPr>
          <p:cNvPr id="3" name="Shape 1"/>
          <p:cNvSpPr/>
          <p:nvPr/>
        </p:nvSpPr>
        <p:spPr>
          <a:xfrm>
            <a:off x="457200" y="128016"/>
            <a:ext cx="1508760" cy="310896"/>
          </a:xfrm>
          <a:prstGeom prst="roundRect">
            <a:avLst/>
          </a:prstGeom>
          <a:solidFill>
            <a:srgbClr val="F28E2B"/>
          </a:solidFill>
          <a:ln w="12700">
            <a:solidFill>
              <a:srgbClr val="F28E2B"/>
            </a:solidFill>
            <a:prstDash val="solid"/>
          </a:ln>
        </p:spPr>
        <p:txBody>
          <a:bodyPr/>
          <a:lstStyle/>
          <a:p>
            <a:endParaRPr lang="en-US"/>
          </a:p>
        </p:txBody>
      </p:sp>
      <p:sp>
        <p:nvSpPr>
          <p:cNvPr id="4" name="Text 2"/>
          <p:cNvSpPr/>
          <p:nvPr/>
        </p:nvSpPr>
        <p:spPr>
          <a:xfrm>
            <a:off x="457200" y="146304"/>
            <a:ext cx="1508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Step 5</a:t>
            </a:r>
            <a:endParaRPr lang="en-US" sz="1200" dirty="0"/>
          </a:p>
        </p:txBody>
      </p:sp>
      <p:sp>
        <p:nvSpPr>
          <p:cNvPr id="5" name="Text 3"/>
          <p:cNvSpPr/>
          <p:nvPr/>
        </p:nvSpPr>
        <p:spPr>
          <a:xfrm>
            <a:off x="2103120" y="109728"/>
            <a:ext cx="9631375"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Ethical AI &amp; Bias Auditing — Fairness by Gender</a:t>
            </a:r>
            <a:endParaRPr lang="en-US" sz="2000" dirty="0"/>
          </a:p>
        </p:txBody>
      </p:sp>
      <p:sp>
        <p:nvSpPr>
          <p:cNvPr id="6" name="Shape 4"/>
          <p:cNvSpPr/>
          <p:nvPr/>
        </p:nvSpPr>
        <p:spPr>
          <a:xfrm>
            <a:off x="640080" y="960120"/>
            <a:ext cx="5577840" cy="260604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7" name="Text 5"/>
          <p:cNvSpPr/>
          <p:nvPr/>
        </p:nvSpPr>
        <p:spPr>
          <a:xfrm>
            <a:off x="822960" y="1143000"/>
            <a:ext cx="521208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Audit setup (test set)</a:t>
            </a:r>
            <a:endParaRPr lang="en-US" sz="1400" dirty="0"/>
          </a:p>
        </p:txBody>
      </p:sp>
      <p:sp>
        <p:nvSpPr>
          <p:cNvPr id="8" name="Text 6"/>
          <p:cNvSpPr/>
          <p:nvPr/>
        </p:nvSpPr>
        <p:spPr>
          <a:xfrm>
            <a:off x="868680" y="1508760"/>
            <a:ext cx="5257800" cy="1783080"/>
          </a:xfrm>
          <a:prstGeom prst="rect">
            <a:avLst/>
          </a:prstGeom>
          <a:noFill/>
          <a:ln/>
        </p:spPr>
        <p:txBody>
          <a:bodyPr wrap="square" rtlCol="0" anchor="ctr"/>
          <a:lstStyle/>
          <a:p>
            <a:pPr marL="0" indent="0">
              <a:buNone/>
            </a:pPr>
            <a:r>
              <a:rPr lang="en-US" sz="1200" dirty="0">
                <a:solidFill>
                  <a:srgbClr val="374151"/>
                </a:solidFill>
                <a:latin typeface="Calibri" pitchFamily="34" charset="0"/>
                <a:ea typeface="Calibri" pitchFamily="34" charset="-122"/>
                <a:cs typeface="Calibri" pitchFamily="34" charset="-120"/>
              </a:rPr>
              <a:t>Sensitive attribute: Gender</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Metrics:</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Demographic Parity Difference (selection rate gap)</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Disparate Impact Ratio</a:t>
            </a: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 Equal Opportunity Difference (TPR gap)</a:t>
            </a:r>
            <a:endParaRPr lang="en-US" sz="1200" dirty="0"/>
          </a:p>
          <a:p>
            <a:pPr marL="0" indent="0">
              <a:buNone/>
            </a:pPr>
            <a:endParaRPr lang="en-US" sz="1200" dirty="0"/>
          </a:p>
          <a:p>
            <a:pPr marL="0" indent="0">
              <a:buNone/>
            </a:pPr>
            <a:r>
              <a:rPr lang="en-US" sz="1200" dirty="0">
                <a:solidFill>
                  <a:srgbClr val="374151"/>
                </a:solidFill>
                <a:latin typeface="Calibri" pitchFamily="34" charset="0"/>
                <a:ea typeface="Calibri" pitchFamily="34" charset="-122"/>
                <a:cs typeface="Calibri" pitchFamily="34" charset="-120"/>
              </a:rPr>
              <a:t>Baseline threshold: 0.5</a:t>
            </a:r>
            <a:endParaRPr lang="en-US" sz="1200" dirty="0"/>
          </a:p>
        </p:txBody>
      </p:sp>
      <p:sp>
        <p:nvSpPr>
          <p:cNvPr id="9" name="Shape 7"/>
          <p:cNvSpPr/>
          <p:nvPr/>
        </p:nvSpPr>
        <p:spPr>
          <a:xfrm>
            <a:off x="6355080" y="960120"/>
            <a:ext cx="5166360" cy="260604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10" name="Text 8"/>
          <p:cNvSpPr/>
          <p:nvPr/>
        </p:nvSpPr>
        <p:spPr>
          <a:xfrm>
            <a:off x="6537960" y="1143000"/>
            <a:ext cx="4800600" cy="320040"/>
          </a:xfrm>
          <a:prstGeom prst="rect">
            <a:avLst/>
          </a:prstGeom>
          <a:noFill/>
          <a:ln/>
        </p:spPr>
        <p:txBody>
          <a:bodyPr wrap="square" rtlCol="0" anchor="ctr"/>
          <a:lstStyle/>
          <a:p>
            <a:pPr marL="0" indent="0">
              <a:buNone/>
            </a:pPr>
            <a:r>
              <a:rPr lang="en-US" sz="1250" b="1" dirty="0">
                <a:solidFill>
                  <a:srgbClr val="111827"/>
                </a:solidFill>
                <a:latin typeface="Calibri" pitchFamily="34" charset="0"/>
                <a:ea typeface="Calibri" pitchFamily="34" charset="-122"/>
                <a:cs typeface="Calibri" pitchFamily="34" charset="-120"/>
              </a:rPr>
              <a:t>Fairness metrics (lower DP diff; higher DI ratio)</a:t>
            </a:r>
            <a:endParaRPr lang="en-US" sz="1250" dirty="0"/>
          </a:p>
        </p:txBody>
      </p:sp>
      <p:graphicFrame>
        <p:nvGraphicFramePr>
          <p:cNvPr id="11" name="Chart 0"/>
          <p:cNvGraphicFramePr/>
          <p:nvPr/>
        </p:nvGraphicFramePr>
        <p:xfrm>
          <a:off x="6537960" y="1481328"/>
          <a:ext cx="480060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40080" y="3703320"/>
            <a:ext cx="10881360" cy="2651760"/>
          </a:xfrm>
          <a:prstGeom prst="roundRect">
            <a:avLst/>
          </a:prstGeom>
          <a:solidFill>
            <a:srgbClr val="FFFFFF"/>
          </a:solidFill>
          <a:ln w="12700">
            <a:solidFill>
              <a:schemeClr val="bg2">
                <a:lumMod val="10000"/>
              </a:schemeClr>
            </a:solidFill>
            <a:prstDash val="solid"/>
          </a:ln>
          <a:effectLst>
            <a:outerShdw blurRad="25400" dist="12700" dir="2700000" algn="bl" rotWithShape="0">
              <a:srgbClr val="000000">
                <a:alpha val="10000"/>
              </a:srgbClr>
            </a:outerShdw>
          </a:effectLst>
        </p:spPr>
        <p:txBody>
          <a:bodyPr/>
          <a:lstStyle/>
          <a:p>
            <a:endParaRPr lang="en-US"/>
          </a:p>
        </p:txBody>
      </p:sp>
      <p:sp>
        <p:nvSpPr>
          <p:cNvPr id="13" name="Text 10"/>
          <p:cNvSpPr/>
          <p:nvPr/>
        </p:nvSpPr>
        <p:spPr>
          <a:xfrm>
            <a:off x="822960" y="3886200"/>
            <a:ext cx="10515600" cy="32004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Mitigation strategies tested (notebook)</a:t>
            </a:r>
            <a:endParaRPr lang="en-US" sz="1400" dirty="0"/>
          </a:p>
        </p:txBody>
      </p:sp>
      <p:sp>
        <p:nvSpPr>
          <p:cNvPr id="14" name="Text 11"/>
          <p:cNvSpPr/>
          <p:nvPr/>
        </p:nvSpPr>
        <p:spPr>
          <a:xfrm>
            <a:off x="868680" y="4251960"/>
            <a:ext cx="10241280" cy="1051560"/>
          </a:xfrm>
          <a:prstGeom prst="rect">
            <a:avLst/>
          </a:prstGeom>
          <a:noFill/>
          <a:ln/>
        </p:spPr>
        <p:txBody>
          <a:bodyPr wrap="square" rtlCol="0" anchor="ctr"/>
          <a:lstStyle/>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 Post-processing: group-specific thresholds to reduce TPR gaps (improved EO difference).</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 In-processing: reweighting during training to reduce selection-rate gap (improved DP/DI).</a:t>
            </a:r>
            <a:endParaRPr lang="en-US" sz="1200" dirty="0"/>
          </a:p>
          <a:p>
            <a:pPr marL="228600" indent="-2286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 Governance: document trade-offs, review with stakeholders, and keep human oversight in intervention decisions.</a:t>
            </a:r>
            <a:endParaRPr lang="en-US" sz="1200" dirty="0"/>
          </a:p>
        </p:txBody>
      </p:sp>
      <p:sp>
        <p:nvSpPr>
          <p:cNvPr id="15" name="Shape 12"/>
          <p:cNvSpPr/>
          <p:nvPr/>
        </p:nvSpPr>
        <p:spPr>
          <a:xfrm>
            <a:off x="868680" y="5394960"/>
            <a:ext cx="10241280" cy="868680"/>
          </a:xfrm>
          <a:prstGeom prst="rect">
            <a:avLst/>
          </a:prstGeom>
          <a:solidFill>
            <a:srgbClr val="FFF7ED"/>
          </a:solidFill>
          <a:ln w="12700">
            <a:solidFill>
              <a:srgbClr val="FED7AA"/>
            </a:solidFill>
            <a:prstDash val="solid"/>
          </a:ln>
        </p:spPr>
        <p:txBody>
          <a:bodyPr/>
          <a:lstStyle/>
          <a:p>
            <a:endParaRPr lang="en-US"/>
          </a:p>
        </p:txBody>
      </p:sp>
      <p:sp>
        <p:nvSpPr>
          <p:cNvPr id="16" name="Text 13"/>
          <p:cNvSpPr/>
          <p:nvPr/>
        </p:nvSpPr>
        <p:spPr>
          <a:xfrm>
            <a:off x="1051560" y="5513832"/>
            <a:ext cx="9875520" cy="640080"/>
          </a:xfrm>
          <a:prstGeom prst="rect">
            <a:avLst/>
          </a:prstGeom>
          <a:noFill/>
          <a:ln/>
        </p:spPr>
        <p:txBody>
          <a:bodyPr wrap="square" rtlCol="0" anchor="ctr"/>
          <a:lstStyle/>
          <a:p>
            <a:pPr marL="0" indent="0">
              <a:buNone/>
            </a:pPr>
            <a:r>
              <a:rPr lang="en-US" sz="1150" dirty="0">
                <a:solidFill>
                  <a:srgbClr val="374151"/>
                </a:solidFill>
                <a:latin typeface="Calibri" pitchFamily="34" charset="0"/>
                <a:ea typeface="Calibri" pitchFamily="34" charset="-122"/>
                <a:cs typeface="Calibri" pitchFamily="34" charset="-120"/>
              </a:rPr>
              <a:t>Takeaway: fairness improvements are achievable but involve trade-offs. Select mitigation based on institution priorities (e.g., equal opportunity vs. selection parity) and validate for unintended impacts.</a:t>
            </a:r>
            <a:endParaRPr lang="en-US" sz="1150" dirty="0"/>
          </a:p>
        </p:txBody>
      </p:sp>
      <p:sp>
        <p:nvSpPr>
          <p:cNvPr id="17" name="Shape 14"/>
          <p:cNvSpPr/>
          <p:nvPr/>
        </p:nvSpPr>
        <p:spPr>
          <a:xfrm>
            <a:off x="0" y="6537960"/>
            <a:ext cx="12191695" cy="320040"/>
          </a:xfrm>
          <a:prstGeom prst="rect">
            <a:avLst/>
          </a:prstGeom>
          <a:solidFill>
            <a:srgbClr val="F3F4F6"/>
          </a:solidFill>
          <a:ln w="12700">
            <a:solidFill>
              <a:srgbClr val="F3F4F6"/>
            </a:solidFill>
            <a:prstDash val="solid"/>
          </a:ln>
        </p:spPr>
        <p:txBody>
          <a:bodyPr/>
          <a:lstStyle/>
          <a:p>
            <a:endParaRPr lang="en-US"/>
          </a:p>
        </p:txBody>
      </p:sp>
      <p:sp>
        <p:nvSpPr>
          <p:cNvPr id="18" name="Text 15"/>
          <p:cNvSpPr/>
          <p:nvPr/>
        </p:nvSpPr>
        <p:spPr>
          <a:xfrm>
            <a:off x="457200" y="6583680"/>
            <a:ext cx="11277295" cy="228600"/>
          </a:xfrm>
          <a:prstGeom prst="rect">
            <a:avLst/>
          </a:prstGeom>
          <a:noFill/>
          <a:ln/>
        </p:spPr>
        <p:txBody>
          <a:bodyPr wrap="square" rtlCol="0" anchor="ctr"/>
          <a:lstStyle/>
          <a:p>
            <a:pPr marL="0" indent="0" algn="r">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TotalTime>
  <Words>2688</Words>
  <Application>Microsoft Macintosh PowerPoint</Application>
  <PresentationFormat>Widescreen</PresentationFormat>
  <Paragraphs>286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Conrado Banjo B. Mamaradlo, Jr.</dc:creator>
  <cp:lastModifiedBy>Conrado Banjo B Mamaradlo Jr</cp:lastModifiedBy>
  <cp:revision>13</cp:revision>
  <dcterms:created xsi:type="dcterms:W3CDTF">2026-01-08T06:25:45Z</dcterms:created>
  <dcterms:modified xsi:type="dcterms:W3CDTF">2026-01-11T06:51:09Z</dcterms:modified>
</cp:coreProperties>
</file>